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24f4f667d6c4c9e" /><Relationship Type="http://schemas.openxmlformats.org/officeDocument/2006/relationships/extended-properties" Target="/docProps/app.xml" Id="Re4e693bee7c7489c" /><Relationship Type="http://schemas.openxmlformats.org/officeDocument/2006/relationships/officeDocument" Target="/ppt/presentation.xml" Id="Ra42e8668b96d4d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d5dc1ed36c4dd3"/>
  </p:sldMasterIdLst>
  <p:notesMasterIdLst>
    <p:notesMasterId xmlns:r="http://schemas.openxmlformats.org/officeDocument/2006/relationships" r:id="R3c9955afc7554364"/>
  </p:notesMasterIdLst>
  <p:sldIdLst>
    <p:sldId xmlns:r="http://schemas.openxmlformats.org/officeDocument/2006/relationships" id="256" r:id="Rf9600d320e364bcc"/>
    <p:sldId xmlns:r="http://schemas.openxmlformats.org/officeDocument/2006/relationships" id="257" r:id="R105451bf72fb4661"/>
    <p:sldId xmlns:r="http://schemas.openxmlformats.org/officeDocument/2006/relationships" id="258" r:id="R32ee1f51c1ee4164"/>
    <p:sldId xmlns:r="http://schemas.openxmlformats.org/officeDocument/2006/relationships" id="259" r:id="Rbb2b6454a88745d4"/>
    <p:sldId xmlns:r="http://schemas.openxmlformats.org/officeDocument/2006/relationships" id="260" r:id="Rba3db956859f4ff9"/>
    <p:sldId xmlns:r="http://schemas.openxmlformats.org/officeDocument/2006/relationships" id="261" r:id="R1e765faa42704233"/>
    <p:sldId xmlns:r="http://schemas.openxmlformats.org/officeDocument/2006/relationships" id="262" r:id="R24bea720680441bd"/>
    <p:sldId xmlns:r="http://schemas.openxmlformats.org/officeDocument/2006/relationships" id="263" r:id="Rd9d1df8002cd4d2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0bba8c6459f45b0" /><Relationship Type="http://schemas.openxmlformats.org/officeDocument/2006/relationships/slideMaster" Target="/ppt/slideMasters/slideMaster1.xml" Id="Ra8d5dc1ed36c4dd3" /><Relationship Type="http://schemas.openxmlformats.org/officeDocument/2006/relationships/notesMaster" Target="/ppt/notesMasters/notesMaster1.xml" Id="R3c9955afc7554364" /><Relationship Type="http://schemas.openxmlformats.org/officeDocument/2006/relationships/presProps" Target="/ppt/presProps.xml" Id="Rc5a011df8eb84301" /><Relationship Type="http://schemas.openxmlformats.org/officeDocument/2006/relationships/tableStyles" Target="/ppt/tableStyles.xml" Id="R353527c7be3e4821" /><Relationship Type="http://schemas.openxmlformats.org/officeDocument/2006/relationships/slide" Target="/ppt/slides/slide1.xml" Id="Rf9600d320e364bcc" /><Relationship Type="http://schemas.openxmlformats.org/officeDocument/2006/relationships/slide" Target="/ppt/slides/slide2.xml" Id="R105451bf72fb4661" /><Relationship Type="http://schemas.openxmlformats.org/officeDocument/2006/relationships/slide" Target="/ppt/slides/slide3.xml" Id="R32ee1f51c1ee4164" /><Relationship Type="http://schemas.openxmlformats.org/officeDocument/2006/relationships/slide" Target="/ppt/slides/slide4.xml" Id="Rbb2b6454a88745d4" /><Relationship Type="http://schemas.openxmlformats.org/officeDocument/2006/relationships/slide" Target="/ppt/slides/slide5.xml" Id="Rba3db956859f4ff9" /><Relationship Type="http://schemas.openxmlformats.org/officeDocument/2006/relationships/slide" Target="/ppt/slides/slide6.xml" Id="R1e765faa42704233" /><Relationship Type="http://schemas.openxmlformats.org/officeDocument/2006/relationships/slide" Target="/ppt/slides/slide7.xml" Id="R24bea720680441bd" /><Relationship Type="http://schemas.openxmlformats.org/officeDocument/2006/relationships/slide" Target="/ppt/slides/slide8.xml" Id="Rd9d1df8002cd4d2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d096ad616e244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566ddad504419e" /><Relationship Type="http://schemas.openxmlformats.org/officeDocument/2006/relationships/notesMaster" Target="/ppt/notesMasters/notesMaster1.xml" Id="Rcea26d8350ff49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4961e40e4a4a82" /><Relationship Type="http://schemas.openxmlformats.org/officeDocument/2006/relationships/notesMaster" Target="/ppt/notesMasters/notesMaster1.xml" Id="R4523d4783c1a47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0e8a76371cf4f38" /><Relationship Type="http://schemas.openxmlformats.org/officeDocument/2006/relationships/notesMaster" Target="/ppt/notesMasters/notesMaster1.xml" Id="R73752783901b47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6160080b30e48fd" /><Relationship Type="http://schemas.openxmlformats.org/officeDocument/2006/relationships/notesMaster" Target="/ppt/notesMasters/notesMaster1.xml" Id="Rd64e2f4a875e41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65100e821e411c" /><Relationship Type="http://schemas.openxmlformats.org/officeDocument/2006/relationships/notesMaster" Target="/ppt/notesMasters/notesMaster1.xml" Id="Re3d4201851654bd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d04c5197f3443f" /><Relationship Type="http://schemas.openxmlformats.org/officeDocument/2006/relationships/notesMaster" Target="/ppt/notesMasters/notesMaster1.xml" Id="Rd8ba2043f80242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a67fa4ef2104513" /><Relationship Type="http://schemas.openxmlformats.org/officeDocument/2006/relationships/notesMaster" Target="/ppt/notesMasters/notesMaster1.xml" Id="R7430b7b0846c445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8a5341e72104e26" /><Relationship Type="http://schemas.openxmlformats.org/officeDocument/2006/relationships/notesMaster" Target="/ppt/notesMasters/notesMaster1.xml" Id="R9c9de8d3539c45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宣传资料/05-文案话术/修茈科技品牌定位与标准话术.md: brand positioning and customer-facing wording.</a:t>
            </a:r>
          </a:p>
          <a:p xmlns:a="http://schemas.openxmlformats.org/drawingml/2006/main">
            <a:r>
              <a:t>- 成都修茈科技有限公司/assets/screenshots/hero-chat.png and assets/xiu-ci-logo.png: internal product and brand assets.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宣传资料/05-文案话术/修茈科技品牌定位与标准话术.md: customer problem framing and differentiators.</a:t>
            </a:r>
          </a:p>
          <a:p xmlns:a="http://schemas.openxmlformats.org/drawingml/2006/main">
            <a:r>
              <a:t>- 宣传资料/10-信任与交付/修茈科技-XCMAX信任与交付说明书.md: acceptance evidence and delivery boundary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宣传资料/08-场景化方案包: existing scenario package names for customer-service lead capture, sales follow-up, knowledge management and production/operations collaboration.</a:t>
            </a:r>
          </a:p>
          <a:p xmlns:a="http://schemas.openxmlformats.org/drawingml/2006/main">
            <a:r>
              <a:t>- 宣传资料/05-文案话术/修茈科技品牌定位与标准话术.md: service audiences and value proposition.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FHD/docs/FEATURE_MAP.md: AI chat, workflow, templates, import/export and module map used to simplify the customer-facing closure.</a:t>
            </a:r>
          </a:p>
          <a:p xmlns:a="http://schemas.openxmlformats.org/drawingml/2006/main">
            <a:r>
              <a:t>- FHD/docs/architecture/CUSTOMER_TICKET_BUS_SSOT.md: ticket number, dispatch, lifecycle progress and return receipt acceptance.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FHD/docs/FEATURE_MAP.md: AI chat, planner/tools workflow and intent routing.</a:t>
            </a:r>
          </a:p>
          <a:p xmlns:a="http://schemas.openxmlformats.org/drawingml/2006/main">
            <a:r>
              <a:t>- FHD/docs/aiopen.md: secured tool/UI operations and action callbacks.</a:t>
            </a:r>
          </a:p>
          <a:p xmlns:a="http://schemas.openxmlformats.org/drawingml/2006/main">
            <a:r>
              <a:t>- 宣传资料/10-信任与交付/修茈科技-XCMAX信任与交付说明书.md: manual confirmation and acceptance evidence language.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宣传资料/10-信任与交付/修茈科技-XCMAX信任与交付说明书.md: acceptance standards and six acceptance items.</a:t>
            </a:r>
          </a:p>
          <a:p xmlns:a="http://schemas.openxmlformats.org/drawingml/2006/main">
            <a:r>
              <a:t>- FHD/docs/DELIVERABLE_PRODUCT.md: customer path from installation to daily use and deliverable boundaries.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宣传资料/02-产品定价/XCMAX永久授权版本与功能矩阵（内部）.md: corrected product version, account level, price and Token boundary.</a:t>
            </a:r>
          </a:p>
          <a:p xmlns:a="http://schemas.openxmlformats.org/drawingml/2006/main">
            <a:r>
              <a:t>- 宣传资料/10-信任与交付/修茈科技-XCMAX信任与交付说明书.md: pricing, licensing and third-party resource boundary.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宣传资料/10-信任与交付/修茈科技-XCMAX信任与交付说明书.md: recommended path and trial/delivery sequence.</a:t>
            </a:r>
          </a:p>
          <a:p xmlns:a="http://schemas.openxmlformats.org/drawingml/2006/main">
            <a:r>
              <a:t>- 宣传资料/09-获客二维码/企业介绍PPT获客码.png: existing lead capture QR asset embedded for CTA.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f3ee31e9144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d7a19f08254d6b" /><Relationship Type="http://schemas.openxmlformats.org/officeDocument/2006/relationships/slideLayout" Target="/ppt/slideLayouts/slideLayout1.xml" Id="R32f16aae8bbb480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2f16aae8bbb480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fad2b4e0c447c7" /><Relationship Type="http://schemas.openxmlformats.org/officeDocument/2006/relationships/image" Target="/ppt/media/image.png" Id="R866c62e6fd304c8b" /><Relationship Type="http://schemas.openxmlformats.org/officeDocument/2006/relationships/image" Target="/ppt/media/image2.png" Id="Rda8d7f1f9f4d4b60" /><Relationship Type="http://schemas.openxmlformats.org/officeDocument/2006/relationships/notesSlide" Target="/ppt/notesSlides/notesSlide1.xml" Id="Rb7ca17d3a92f4a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5d5dfbf734f48" /><Relationship Type="http://schemas.openxmlformats.org/officeDocument/2006/relationships/image" Target="/ppt/media/image3.png" Id="R72120e8b78da46ed" /><Relationship Type="http://schemas.openxmlformats.org/officeDocument/2006/relationships/notesSlide" Target="/ppt/notesSlides/notesSlide2.xml" Id="Rffcd6f78fcd845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2f37d79da34fea" /><Relationship Type="http://schemas.openxmlformats.org/officeDocument/2006/relationships/image" Target="/ppt/media/image4.png" Id="Rcd268c8d6b524f65" /><Relationship Type="http://schemas.openxmlformats.org/officeDocument/2006/relationships/notesSlide" Target="/ppt/notesSlides/notesSlide3.xml" Id="R01c94f7416884e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9af032529a45ec" /><Relationship Type="http://schemas.openxmlformats.org/officeDocument/2006/relationships/image" Target="/ppt/media/image5.png" Id="R5f55849341dc4ac3" /><Relationship Type="http://schemas.openxmlformats.org/officeDocument/2006/relationships/notesSlide" Target="/ppt/notesSlides/notesSlide4.xml" Id="R76a28ce997d541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704fdcfeae4c2a" /><Relationship Type="http://schemas.openxmlformats.org/officeDocument/2006/relationships/image" Target="/ppt/media/image6.png" Id="Rfa5724f5070743b2" /><Relationship Type="http://schemas.openxmlformats.org/officeDocument/2006/relationships/notesSlide" Target="/ppt/notesSlides/notesSlide5.xml" Id="R027bb56f88064b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7148abf9ff46aa" /><Relationship Type="http://schemas.openxmlformats.org/officeDocument/2006/relationships/image" Target="/ppt/media/image7.png" Id="R13aa11570e534c19" /><Relationship Type="http://schemas.openxmlformats.org/officeDocument/2006/relationships/notesSlide" Target="/ppt/notesSlides/notesSlide6.xml" Id="R59d4a520e36047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ebd8e87c04d5c" /><Relationship Type="http://schemas.openxmlformats.org/officeDocument/2006/relationships/image" Target="/ppt/media/image8.png" Id="R23c2f9e2936a42db" /><Relationship Type="http://schemas.openxmlformats.org/officeDocument/2006/relationships/notesSlide" Target="/ppt/notesSlides/notesSlide7.xml" Id="Re3eeeac61da34e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e74f831ae4b72" /><Relationship Type="http://schemas.openxmlformats.org/officeDocument/2006/relationships/image" Target="/ppt/media/image9.png" Id="R9f16fe68f9124df5" /><Relationship Type="http://schemas.openxmlformats.org/officeDocument/2006/relationships/image" Target="/ppt/media/image10.png" Id="R935743e565134be3" /><Relationship Type="http://schemas.openxmlformats.org/officeDocument/2006/relationships/notesSlide" Target="/ppt/notesSlides/notesSlide8.xml" Id="R3c51aa4f2c194c85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636"/>
            </a:gs>
            <a:gs pos="62000">
              <a:srgbClr val="0C2C66"/>
            </a:gs>
            <a:gs pos="100000">
              <a:srgbClr val="1464D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18CC7D-B151-45F1-AD51-6ED5C995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9525">
            <a:solidFill>
              <a:srgbClr val="FFFFFF">
                <a:alpha val="4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62e6fd304c8b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4AB80-0B8A-44E9-BCDD-7DC3ACE3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704850"/>
            <a:ext cx="4000500" cy="40005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FFFF">
                  <a:alpha val="22000"/>
                </a:srgbClr>
              </a:gs>
              <a:gs pos="46000">
                <a:srgbClr val="16C8FF">
                  <a:alpha val="18000"/>
                </a:srgbClr>
              </a:gs>
              <a:gs pos="100000">
                <a:srgbClr val="16C8FF">
                  <a:alpha val="0"/>
                </a:srgbClr>
              </a:gs>
            </a:gsLst>
            <a:path path="shape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024A2-4F60-4128-A9E8-7A7CC93B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57300"/>
            <a:ext cx="57150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让 AI 员工</a:t>
            </a:r>
          </a:p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进入真实业务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2558B1-A786-46DE-A299-DF81349F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7EA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D7EAFF"/>
                </a:solidFill>
                <a:latin typeface="PingFang SC"/>
                <a:ea typeface="PingFang SC"/>
                <a:cs typeface="PingFang SC"/>
              </a:rPr>
              <a:t>XCMAX 客户版产品介绍与落地说明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FF73F9-3FCC-491D-A151-D9999E30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BFD5F2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BFD5F2"/>
                </a:solidFill>
                <a:latin typeface="PingFang SC"/>
                <a:ea typeface="PingFang SC"/>
                <a:cs typeface="PingFang SC"/>
              </a:rPr>
              <a:t>从一个可验收的场景开始，把客户接待、资料查询、任务执行和结果回执跑起来。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4ABA90-A586-4BCB-B362-82EDD5A05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00200"/>
            <a:ext cx="3905250" cy="2895600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8d7f1f9f4d4b60"/>
          <a:srcRect xmlns:a="http://schemas.openxmlformats.org/drawingml/2006/main" l="6835" t="0" r="68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24700" y="1724025"/>
            <a:ext cx="3657600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49183-78D8-4F39-B808-A478CB4C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3525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9525">
            <a:solidFill>
              <a:srgbClr val="FFFFFF">
                <a:alpha val="6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3177C1-0662-4E48-ACE0-E7274ADF6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1352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可演示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6B825-D61C-46B5-876D-D11BA5F5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95850"/>
            <a:ext cx="13525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9525">
            <a:solidFill>
              <a:srgbClr val="FFFFFF">
                <a:alpha val="6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669920-07BE-45FC-8E84-CD869112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5010150"/>
            <a:ext cx="1352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可交付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11E321-D18E-4495-91F8-E6238162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895850"/>
            <a:ext cx="13525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9525">
            <a:solidFill>
              <a:srgbClr val="FFFFFF">
                <a:alpha val="6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F32902-82C5-4138-A544-383B0E6A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10150"/>
            <a:ext cx="1352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可验收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F9FF7C-E1F2-4EE4-B0BA-5E0429C0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9E8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B9C9E8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B592B7-C1F2-4482-802C-247282EF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9C9E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9C9E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593292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320DC0-DDC3-4A87-95FE-22A1027E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20e8b78da46ed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29D54-D43A-471C-8186-45E40ADA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8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8AC748-D06C-4485-9C1F-678A415A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客户问题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778A5-1B3C-4E94-8808-9AF4295B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企业不是缺 AI，而是缺能跑进业务的闭环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4FCD15-148F-4F91-927D-2D50E6728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很多团队已经试过聊天工具，但真正卡住的是数据、流程、权限和结果验收。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39FA63-8244-4898-9611-645063DE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381250"/>
            <a:ext cx="4476750" cy="2724150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A5AD6-F6BB-4476-A3B2-FEAE9F0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2415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常见现状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FCD061-955D-4C8E-AA27-6E7922B7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257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F2"/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CA04D-16B5-4574-8C76-37B3B5D9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0555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00042-75F8-4717-9EF3-79C2492D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2766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客户消息散在微信、表格和系统里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1C0236-428E-4B9F-B565-0C18BDF8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57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F2"/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C2E9C2-E315-490B-8777-C4887BE8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70560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×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4DBEA6-C269-45AF-A77C-D8760F27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6766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资料能找到，但不能被业务动作调用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A618AA-9224-40AE-AEA2-32A01FEE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576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F2"/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3BFB76-3FBB-432A-92A0-80A0AAFA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0565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×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34C50E-7C4F-4D17-9BFD-525D1F1D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0767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AI 能回答，却不能稳定提交产物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0CE326-70B9-42E2-AFAA-B6584FE9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F2"/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9865A0-8444-4022-AC23-FC1C231C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0570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×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8A15ED-FBBD-4F81-BD15-E883D6DB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7675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过程不可追踪，验收只能靠口头确认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FC3841-8581-44C2-A9FB-605A1BF18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81250"/>
            <a:ext cx="4476750" cy="2724150"/>
          </a:xfrm>
          <a:prstGeom xmlns:a="http://schemas.openxmlformats.org/drawingml/2006/main" prst="roundRect">
            <a:avLst>
              <a:gd name="adj" fmla="val 5594"/>
            </a:avLst>
          </a:prstGeom>
          <a:gradFill xmlns:a="http://schemas.openxmlformats.org/drawingml/2006/main">
            <a:gsLst>
              <a:gs pos="0">
                <a:srgbClr val="FFFFFF"/>
              </a:gs>
              <a:gs pos="100000">
                <a:srgbClr val="F5FAFF"/>
              </a:gs>
            </a:gsLst>
            <a:lin ang="10800000"/>
          </a:gradFill>
          <a:ln xmlns:a="http://schemas.openxmlformats.org/drawingml/2006/main" w="9525">
            <a:solidFill>
              <a:srgbClr val="CDE0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4D2CED-3DDA-4DA0-B10B-0337A8CEB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7241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XCMAX 的切入点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F033D3-D796-4401-8870-81E8E908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575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BF5"/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E2692C-FAA0-45FA-B1ED-FF6A6078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0555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03BF1D-410F-4771-9AAC-C6E8C4DC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7660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rPr>
              <a:t>先选一个真实场景，不做泛泛平台演示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DF0064-AA0C-4EB8-A4B2-471866B1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6576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BF5"/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44A58B-58EC-4170-A640-4793C8D7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70560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EAF726-34DE-4F79-8369-3BEC7EA4E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67665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rPr>
              <a:t>把资料、任务和角色放进同一工作空间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1068BF-182C-422F-936A-CBDEABB5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0576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BF5"/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A9A309-081A-46CC-B91F-EB20D33E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10565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ED83A6-87B1-4AF3-A557-AC37DB0C4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7670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rPr>
              <a:t>AI 员工按授权执行，关键动作可人工确认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0B231B-C34D-455A-86B0-91114F95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577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BF5"/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59076F-D71A-4970-840A-C45507974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505706"/>
            <a:ext cx="266700" cy="1466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798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✓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98F41B-F945-4A47-8C49-C5DA234D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476750"/>
            <a:ext cx="3181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12203A"/>
                </a:solidFill>
                <a:latin typeface="PingFang SC"/>
                <a:ea typeface="PingFang SC"/>
                <a:cs typeface="PingFang SC"/>
              </a:rPr>
              <a:t>留下编号、记录、截图和回执作为验收证据</a:t>
            </a:r>
          </a:p>
        </p:txBody>
      </p:sp>
      <p:cxnSp>
        <p:nvCxnSpPr>
          <p:cNvPr id="72" name=""/>
          <p:cNvCxnSpPr>
            <a:stCxn xmlns:a="http://schemas.openxmlformats.org/drawingml/2006/main" id="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410200" y="3743325"/>
            <a:ext cx="13716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3C241B-8640-4C02-9E48-26ECC9358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5F6A3F-FF41-4FC2-9677-54BEDBBC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2524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8F6D65-DFCF-40AB-B04A-FA7CD7527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268c8d6b524f65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08D751-A5EF-449A-9151-5CB0F68F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8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7D2C35-4F91-4BEA-B4A3-90D7DCC1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落地场景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05E42C-096E-4BD5-86E6-5B4167D8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先跑四类高频场景，再逐步扩展岗位和流程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AB0D6-10EE-449A-8390-A8FE81B2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客户买的不是“AI 平台”这个名词，而是具体问题能否被稳定处理。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B57FB7-E289-4ECB-8455-3DC02872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49530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D8E5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394793-FE88-4B4D-A194-B69B33768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95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7D6">
              <a:alpha val="10000"/>
            </a:srgbClr>
          </a:solidFill>
          <a:ln xmlns:a="http://schemas.openxmlformats.org/drawingml/2006/main" w="9525">
            <a:solidFill>
              <a:srgbClr val="1557D6">
                <a:alpha val="35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A7E0E2-291E-4B70-B53F-E7C597C0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88133"/>
            <a:ext cx="514350" cy="2828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39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539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B95AD-3CEA-416E-AC19-77A3E1646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24125"/>
            <a:ext cx="3848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客服获客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11C5D-B1AA-4DF6-82DD-582E0E0F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242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扫码或企业微信进入后，收集公司、岗位和需求，自动形成咨询编号，便于销售继续跟进。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3C6391-0511-4296-B4FA-D9C2C0AA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86000"/>
            <a:ext cx="49530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CF6"/>
          </a:solidFill>
          <a:ln xmlns:a="http://schemas.openxmlformats.org/drawingml/2006/main" w="9525">
            <a:solidFill>
              <a:srgbClr val="D8E5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A78CD5-6974-4061-B34C-C22224CF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F1C">
              <a:alpha val="10000"/>
            </a:srgbClr>
          </a:solidFill>
          <a:ln xmlns:a="http://schemas.openxmlformats.org/drawingml/2006/main" w="9525">
            <a:solidFill>
              <a:srgbClr val="FF9F1C">
                <a:alpha val="35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CB642D-4A7B-408E-A1ED-03896CEF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88133"/>
            <a:ext cx="514350" cy="2828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39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1539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263A13-1E34-441D-AC26-A729ECF0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524125"/>
            <a:ext cx="3848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销售跟进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5A1EF-273B-494D-B08F-02312AFE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2420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沉淀客户资料、报价口径和跟进状态，让销售少翻聊天记录，按编号推进下一步。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C8A8AB-DB31-4CE5-B4AC-AEB28B0F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49530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AF9FF"/>
          </a:solidFill>
          <a:ln xmlns:a="http://schemas.openxmlformats.org/drawingml/2006/main" w="9525">
            <a:solidFill>
              <a:srgbClr val="D8E5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F685EB-1AE4-4E66-A158-8CCA7646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05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DFC">
              <a:alpha val="10000"/>
            </a:srgbClr>
          </a:solidFill>
          <a:ln xmlns:a="http://schemas.openxmlformats.org/drawingml/2006/main" w="9525">
            <a:solidFill>
              <a:srgbClr val="6D5DFC">
                <a:alpha val="35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A5FD65-4ADA-4AAE-AF54-D7CF375C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97883"/>
            <a:ext cx="514350" cy="2828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39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1539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0A2439-EC71-459A-B781-E46C4BAF1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33875"/>
            <a:ext cx="3848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知识管理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9B9CA0-2BC5-4EC9-A80F-41DA90D4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3395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把产品资料、制度、FAQ 和交付文档变成可检索知识，回答有依据，员工使用同一口径。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469ED7-0A85-44F2-AEDE-1E224515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95750"/>
            <a:ext cx="49530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3FCF8"/>
          </a:solidFill>
          <a:ln xmlns:a="http://schemas.openxmlformats.org/drawingml/2006/main" w="9525">
            <a:solidFill>
              <a:srgbClr val="D8E5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958439-B555-474D-898F-99F0A4B8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C997">
              <a:alpha val="10000"/>
            </a:srgbClr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E0E685-6E31-4F0F-94FC-5D8331C4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97883"/>
            <a:ext cx="514350" cy="2828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39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1539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305018-040A-4D92-9CEC-8372F746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333875"/>
            <a:ext cx="3848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生产 / 运营协同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E7BFCB-6350-483E-826C-A933EC06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33950"/>
            <a:ext cx="4495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围绕订单、表格、待办和异常处理建立流程，AI 员工辅助检查、记录和提醒。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660236-20BE-49A4-A00C-069067969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7D58F4-8651-463A-AB01-BB67F914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51509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B971CE0-3E6B-43AE-AE30-4F609A2E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55849341dc4ac3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B13F5-C541-4244-B412-241814111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8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8F4E07-B991-4586-B031-B530A44D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客户版架构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5B53A8-7028-4050-8B96-23E8AA1CC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客户看到的是一条业务闭环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DF0575-3CF1-4F67-BF70-9DAB3F8D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入口进来、资料可用、AI 能做事、过程能回执，这是客户真正需要理解的架构。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E0AB4-4C2D-4D4E-B7DA-F79867F68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90800"/>
            <a:ext cx="14668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9998B-4F31-48E0-B9DE-252AE19F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2479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7D6">
              <a:alpha val="10000"/>
            </a:srgbClr>
          </a:solidFill>
          <a:ln xmlns:a="http://schemas.openxmlformats.org/drawingml/2006/main" w="9525">
            <a:solidFill>
              <a:srgbClr val="1557D6">
                <a:alpha val="35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5C7C93-9708-4437-9735-024879FE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343912"/>
            <a:ext cx="5334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96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596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CE372-1985-445F-9BD3-100E069B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入口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2F2D81-C723-444F-9F84-F00C4A19B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76600"/>
            <a:ext cx="1162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官网、二维码、企业微信、桌面端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C4F2ED-B743-4BE6-B7FA-055B5334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590800"/>
            <a:ext cx="14668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65CE73-14C0-43CC-9BEF-74AEBA700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2479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C8FF">
              <a:alpha val="10000"/>
            </a:srgbClr>
          </a:solidFill>
          <a:ln xmlns:a="http://schemas.openxmlformats.org/drawingml/2006/main" w="9525">
            <a:solidFill>
              <a:srgbClr val="16C8FF">
                <a:alpha val="35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34072E-2B2B-45B4-AD0D-08A8AF06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2343912"/>
            <a:ext cx="5334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96" b="1">
                <a:solidFill>
                  <a:srgbClr val="16C8FF"/>
                </a:solidFill>
                <a:latin typeface="PingFang SC"/>
                <a:ea typeface="PingFang SC"/>
                <a:cs typeface="PingFang SC"/>
              </a:defRPr>
            </a:pPr>
            <a:r>
              <a:rPr sz="1596" b="1">
                <a:solidFill>
                  <a:srgbClr val="16C8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FADBD-B353-4412-A66C-4A507BA0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194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需求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604A4-8A2A-48BC-8B23-62D732E5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76600"/>
            <a:ext cx="1162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公司、岗位、痛点、联系方式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367E61-B462-4D6B-9011-B51B4FD0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90800"/>
            <a:ext cx="14668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230CC3-C72E-4366-87E6-1372DF9F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479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DFC">
              <a:alpha val="10000"/>
            </a:srgbClr>
          </a:solidFill>
          <a:ln xmlns:a="http://schemas.openxmlformats.org/drawingml/2006/main" w="9525">
            <a:solidFill>
              <a:srgbClr val="6D5DFC">
                <a:alpha val="35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0A537B-2A16-4205-92F7-F2CA7A62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343912"/>
            <a:ext cx="5334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96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1596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53A79E-481F-43FB-85F4-C546D1DDF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194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资料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DCFB3D-17AB-4450-BB1A-324F602D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76600"/>
            <a:ext cx="1162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产品、制度、表格、历史记录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D8E3F2-697F-4B0A-B0F5-8DB242A57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590800"/>
            <a:ext cx="14668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0682BE-52DA-4BF7-8B12-890F191F8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2479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C997">
              <a:alpha val="10000"/>
            </a:srgbClr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E27040-7DA4-4612-AF3C-F2C89D71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343912"/>
            <a:ext cx="5334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96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1596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D9FDAA-F4D7-4D61-AD83-31E8BCD0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194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AI 员工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72805F-7510-499D-9DAE-0A844182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76600"/>
            <a:ext cx="1162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理解任务、查资料、调用工具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AF9C7A-85A3-4A15-936C-C1CDE910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14668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403A54-86F3-4DD4-B87F-DB7E94196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2479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F1C">
              <a:alpha val="10000"/>
            </a:srgbClr>
          </a:solidFill>
          <a:ln xmlns:a="http://schemas.openxmlformats.org/drawingml/2006/main" w="9525">
            <a:solidFill>
              <a:srgbClr val="FF9F1C">
                <a:alpha val="35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F5F878-F148-4482-B784-73A0444C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343912"/>
            <a:ext cx="5334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96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1596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8DE6ED-12FD-4817-8361-56E4A0C9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194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确认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743C6A-7044-46BB-9AB9-9F4CF1C1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76600"/>
            <a:ext cx="1162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敏感动作人工确认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0FF1DE-A087-4064-A0A9-570C05C6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590800"/>
            <a:ext cx="1466850" cy="1314450"/>
          </a:xfrm>
          <a:prstGeom xmlns:a="http://schemas.openxmlformats.org/drawingml/2006/main" prst="roundRect">
            <a:avLst>
              <a:gd name="adj" fmla="val 115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B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FDA0B7-BFAD-4D91-A180-2B8089F10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247900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E5C">
              <a:alpha val="10000"/>
            </a:srgbClr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DD88DC-579E-4EF1-8BFF-01E06817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343912"/>
            <a:ext cx="533400" cy="2933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96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1596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8AD09C-DCC3-47F7-917C-A00AAB24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819400"/>
            <a:ext cx="112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回执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855D05-52CD-49E6-AF31-3315B9E30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276600"/>
            <a:ext cx="1162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编号、状态、结果、验收证据</a:t>
            </a:r>
          </a:p>
        </p:txBody>
      </p:sp>
      <p:cxnSp>
        <p:nvCxnSpPr>
          <p:cNvPr id="83" name=""/>
          <p:cNvCxnSpPr>
            <a:stCxn xmlns:a="http://schemas.openxmlformats.org/drawingml/2006/main" id="7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266950" y="32480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84" name=""/>
          <p:cNvCxnSpPr>
            <a:stCxn xmlns:a="http://schemas.openxmlformats.org/drawingml/2006/main" id="12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076700" y="32480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85" name=""/>
          <p:cNvCxnSpPr>
            <a:stCxn xmlns:a="http://schemas.openxmlformats.org/drawingml/2006/main" id="17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5886450" y="32480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86" name=""/>
          <p:cNvCxnSpPr>
            <a:stCxn xmlns:a="http://schemas.openxmlformats.org/drawingml/2006/main" id="22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7696200" y="32480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87" name=""/>
          <p:cNvCxnSpPr>
            <a:stCxn xmlns:a="http://schemas.openxmlformats.org/drawingml/2006/main" id="27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9505950" y="32480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F4D79-416F-405E-BD24-F30B6F9B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762500"/>
            <a:ext cx="91440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61636"/>
          </a:solidFill>
          <a:ln xmlns:a="http://schemas.openxmlformats.org/drawingml/2006/main" w="9525">
            <a:solidFill>
              <a:srgbClr val="06163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B13A16-5342-4498-A145-31FCDE32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9530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C8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6C8FF"/>
                </a:solidFill>
                <a:latin typeface="PingFang SC"/>
                <a:ea typeface="PingFang SC"/>
                <a:cs typeface="PingFang SC"/>
              </a:rPr>
              <a:t>客户解释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5B392D-1E64-4E34-9851-5F3B98AC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43475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XCMAX 把咨询、资料、任务和回执串成一个可验收的业务闭环。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6A556C1-08DC-4B8C-9494-618B3935A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965BB8-4254-4043-ACA2-5F06406E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07597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3C1BDE-D5F6-4D04-B3D3-DECD0CC0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5724f5070743b2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65FE0F-783A-4BF1-A4D7-83DD5C91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8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25037-59A6-4230-93C3-7CFA1186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AI 员工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6208E4-4D08-4B4C-942D-2452ED36C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AI 员工怎么做事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E1791B-E844-4582-9FA9-9EAF2666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先理解需求，再查资料，最后交付结果；关键动作保留人工确认。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3C0DDA-4D2E-40B9-BDDE-4C9121C5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1657350" cy="16954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46C9E1-75F1-455B-BE21-6DA4F0E6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765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7D6">
              <a:alpha val="10000"/>
            </a:srgbClr>
          </a:solidFill>
          <a:ln xmlns:a="http://schemas.openxmlformats.org/drawingml/2006/main" w="9525">
            <a:solidFill>
              <a:srgbClr val="1557D6">
                <a:alpha val="35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A9C0B8-FC1D-413B-9EAC-9499C511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5759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48A90-3ACD-47FB-B5C7-9C25C457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813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理解需求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FE104A-4567-4E77-ADDD-AE0D18D8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127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客户想解决什么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F2C8F7-28BB-44B7-B61C-A044CBFD0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57500"/>
            <a:ext cx="1657350" cy="16954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EF11B4-AF32-4F59-A02C-A87CC767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765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DFC">
              <a:alpha val="10000"/>
            </a:srgbClr>
          </a:solidFill>
          <a:ln xmlns:a="http://schemas.openxmlformats.org/drawingml/2006/main" w="9525">
            <a:solidFill>
              <a:srgbClr val="6D5DFC">
                <a:alpha val="35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01DFC4-FC23-4B8E-97D5-A68B9C2F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759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80A481-4EE7-402F-85EF-43C05F90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1813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查找资料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C9A838-AC41-4A16-B530-36B61F84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695700"/>
            <a:ext cx="127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产品、制度、历史记录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8F67EF-AE25-4C97-B68A-56A4CBF6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857500"/>
            <a:ext cx="1657350" cy="16954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59DC8-12C9-417C-8156-45115F80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4765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C997">
              <a:alpha val="10000"/>
            </a:srgbClr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77491D-530A-4FFC-BCAA-616C662C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759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A5DC0A-019C-406E-84EB-59A2F3C31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1813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执行动作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EA45C5-71BC-4C07-8019-D1E979141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695700"/>
            <a:ext cx="127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填表、生成文件、提交工单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6F6642-CBC0-4D2D-A784-A156BA27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857500"/>
            <a:ext cx="1657350" cy="16954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8A302-57F2-400C-AB46-B58244329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765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F1C">
              <a:alpha val="10000"/>
            </a:srgbClr>
          </a:solidFill>
          <a:ln xmlns:a="http://schemas.openxmlformats.org/drawingml/2006/main" w="9525">
            <a:solidFill>
              <a:srgbClr val="FF9F1C">
                <a:alpha val="3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442B8B-6299-40AD-91CC-3D0594166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759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DAB17F-781C-4FA2-8448-B11AF4D6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1813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人工确认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6B649-F19E-43B6-BB0A-B67962274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95700"/>
            <a:ext cx="127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金额、发送、删除等高风险动作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07E558-5AD4-4566-99C9-174E8AC4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57500"/>
            <a:ext cx="1657350" cy="16954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1B81F4-2C8F-4971-92A4-06A68B4A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4765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E5C">
              <a:alpha val="10000"/>
            </a:srgbClr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EF9F23-07BD-4A7F-8B51-36F32685D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5759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91AEB11-8CC6-421B-9BB4-816FB794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81350"/>
            <a:ext cx="1276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留下证据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EEEEE8-8089-4169-B68F-F1E47B775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95700"/>
            <a:ext cx="1276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编号、过程、结果、回执</a:t>
            </a:r>
          </a:p>
        </p:txBody>
      </p:sp>
      <p:cxnSp>
        <p:nvCxnSpPr>
          <p:cNvPr id="72" name=""/>
          <p:cNvCxnSpPr>
            <a:stCxn xmlns:a="http://schemas.openxmlformats.org/drawingml/2006/main" id="7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609850" y="37052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73" name=""/>
          <p:cNvCxnSpPr>
            <a:stCxn xmlns:a="http://schemas.openxmlformats.org/drawingml/2006/main" id="12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4724400" y="37052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74" name=""/>
          <p:cNvCxnSpPr>
            <a:stCxn xmlns:a="http://schemas.openxmlformats.org/drawingml/2006/main" id="17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6838950" y="37052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cxnSp>
        <p:nvCxnSpPr>
          <p:cNvPr id="75" name=""/>
          <p:cNvCxnSpPr>
            <a:stCxn xmlns:a="http://schemas.openxmlformats.org/drawingml/2006/main" id="22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953500" y="37052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FB6F6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FF2CFF-A120-4FC4-94A1-83F2B11D1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19700"/>
            <a:ext cx="78867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061636"/>
          </a:solidFill>
          <a:ln xmlns:a="http://schemas.openxmlformats.org/drawingml/2006/main" w="9525">
            <a:solidFill>
              <a:srgbClr val="06163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83D59A9-061C-47DA-8D1D-23A6C23D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10200"/>
            <a:ext cx="1295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C8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6C8FF"/>
                </a:solidFill>
                <a:latin typeface="PingFang SC"/>
                <a:ea typeface="PingFang SC"/>
                <a:cs typeface="PingFang SC"/>
              </a:rPr>
              <a:t>销售话术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FB92D5-3CFE-45C9-8C9F-8E610C019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911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做重复步骤，关键节点由人确认。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ADAABB-F8B7-4391-A3E0-21216B0C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4C9F2F-004D-42E3-83F7-5DAD9F5EF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949087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859E1F-D851-4402-B19C-61CF30B80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aa11570e534c19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8F6D76-7F43-4E87-ABD3-FB1EF7301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8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C6911E-3B20-47BC-8908-200624E3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交付可信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A887B5-15FB-429C-AFB0-408C6921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客户关心的不是功能多少，而是能不能验收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3ECE3-AE33-43F4-89F1-EAFC1C56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每个场景都要提前说清输入、权限、动作、产物、指标和证据。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654650-C38A-4A1B-AE07-5E8B4FB4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657350" cy="19621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41C94F-7894-4BC5-ACD0-B04EFCF8E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57D6">
              <a:alpha val="10000"/>
            </a:srgbClr>
          </a:solidFill>
          <a:ln xmlns:a="http://schemas.openxmlformats.org/drawingml/2006/main" w="9525">
            <a:solidFill>
              <a:srgbClr val="1557D6">
                <a:alpha val="35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6FA01A-26F1-46B5-901F-1F6BFAAA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188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B1593C-6AFE-4396-804C-31A5D92F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62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AC7BBD-04C0-45F1-B0B7-2F56070C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需要哪些数据、格式和样本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2D4C92-577F-4DC6-B7B8-ED63B79B8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1657350" cy="19621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57C250-3369-4843-8397-AE6C40CE2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19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DFC">
              <a:alpha val="10000"/>
            </a:srgbClr>
          </a:solidFill>
          <a:ln xmlns:a="http://schemas.openxmlformats.org/drawingml/2006/main" w="9525">
            <a:solidFill>
              <a:srgbClr val="6D5DFC">
                <a:alpha val="3500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E01630-187B-4C28-867F-97347619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188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C35712-57D1-4415-9CED-EDE814A1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62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权限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11DF1-40FA-4689-A8AA-49647C88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0050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谁能查看、触发、审批和导出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DCEB46-E2A6-48D4-AC42-51E40AE6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1657350" cy="19621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2ECAAA-350C-4C8F-8E28-25E9E551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19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C997">
              <a:alpha val="10000"/>
            </a:srgbClr>
          </a:solidFill>
          <a:ln xmlns:a="http://schemas.openxmlformats.org/drawingml/2006/main" w="9525">
            <a:solidFill>
              <a:srgbClr val="20C997">
                <a:alpha val="3500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28BF1D-4D8B-415C-B97F-E8811D1BD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188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2B858-025B-49D3-969C-B2A1F71B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62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动作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A7CCCE-48DC-4DC7-80DD-061AC26C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400050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AI 或系统实际完成哪些步骤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7F94E4-5D08-48A8-843F-3EB719F8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1657350" cy="19621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A47CEE-574D-4F6F-A3FF-EC3FCC4C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19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9F1C">
              <a:alpha val="10000"/>
            </a:srgbClr>
          </a:solidFill>
          <a:ln xmlns:a="http://schemas.openxmlformats.org/drawingml/2006/main" w="9525">
            <a:solidFill>
              <a:srgbClr val="FF9F1C">
                <a:alpha val="3500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49F9EA-BEDC-4820-B5D9-A5F1AE71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188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产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C39D48-BB89-4E30-8F9D-F5B54EF7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562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898891-6259-4C7E-8FA7-698F03D1F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00050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文件、消息、工单、表单或业务结果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CE135F-A178-4558-A742-711BD747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52700"/>
            <a:ext cx="1657350" cy="1962150"/>
          </a:xfrm>
          <a:prstGeom xmlns:a="http://schemas.openxmlformats.org/drawingml/2006/main" prst="roundRect">
            <a:avLst>
              <a:gd name="adj" fmla="val 91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2CCB-0F67-4D2D-9240-D2BD69061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819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E5C">
              <a:alpha val="10000"/>
            </a:srgbClr>
          </a:solidFill>
          <a:ln xmlns:a="http://schemas.openxmlformats.org/drawingml/2006/main" w="9525">
            <a:solidFill>
              <a:srgbClr val="EF4E5C">
                <a:alpha val="3500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160C5E-9807-45E2-8C91-1F1CA8D4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18841"/>
            <a:ext cx="552450" cy="303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3" b="1">
                <a:solidFill>
                  <a:srgbClr val="EF4E5C"/>
                </a:solidFill>
                <a:latin typeface="PingFang SC"/>
                <a:ea typeface="PingFang SC"/>
                <a:cs typeface="PingFang SC"/>
              </a:defRPr>
            </a:pPr>
            <a:r>
              <a:rPr sz="1653" b="1">
                <a:solidFill>
                  <a:srgbClr val="EF4E5C"/>
                </a:solidFill>
                <a:latin typeface="PingFang SC"/>
                <a:ea typeface="PingFang SC"/>
                <a:cs typeface="PingFang SC"/>
              </a:rPr>
              <a:t>证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D7E416-EF3A-4ED3-BFCA-37DD8112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证据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440C3C-30EB-49D8-AF08-D0E3FED2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000500"/>
            <a:ext cx="1314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日志、截图、测试记录或回执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087986-6DFA-4FDC-85CF-787EEAE9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143500"/>
            <a:ext cx="857250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061636"/>
          </a:solidFill>
          <a:ln xmlns:a="http://schemas.openxmlformats.org/drawingml/2006/main" w="9525">
            <a:solidFill>
              <a:srgbClr val="06163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D7F97F-DF67-489B-B2F9-C4F4792D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31495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C8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6C8FF"/>
                </a:solidFill>
                <a:latin typeface="PingFang SC"/>
                <a:ea typeface="PingFang SC"/>
                <a:cs typeface="PingFang SC"/>
              </a:rPr>
              <a:t>验收口径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B280D10-E650-4793-859D-863CEC85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3149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按约定场景在真实环境稳定跑出结果，并留下记录。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F2A60B7-8249-42F0-88E7-4DC98CB50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121318-65ED-4D41-A066-77C209B2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153752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4C8492-C2E0-49B7-AB11-DCA7A389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c2f9e2936a42db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728799-2DCC-4627-88A1-B4E52A40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"/>
            <a:ext cx="12573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8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89B28E-B25C-4A30-8A16-2D78AE8D5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672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版本与边界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0C39BB-2516-40C8-8F53-20C5BF0E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92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一次付费买功能版本，模型 Token 单独计算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EEC61-8F3B-4E85-B58A-2F29D6FF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这页客户一定要讲清，避免把账号等级、功能版本和 Token 套餐混在一起。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7C48C-0569-4153-9B28-6165BD0D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232410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2753E6-0802-42D8-B371-FFC6D9F5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336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557D6">
              <a:alpha val="12000"/>
            </a:srgbClr>
          </a:solidFill>
          <a:ln xmlns:a="http://schemas.openxmlformats.org/drawingml/2006/main" w="9525">
            <a:solidFill>
              <a:srgbClr val="1557D6">
                <a:alpha val="25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8F3806-F5D0-402D-AB67-AD8E7735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003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Normal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B91A92-2335-440C-BBB0-1B77AC6B8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业务验证版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CD091-9A11-4323-BB68-2F1DC02A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24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557D6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557D6"/>
                </a:solidFill>
                <a:latin typeface="PingFang SC"/>
                <a:ea typeface="PingFang SC"/>
                <a:cs typeface="PingFang SC"/>
              </a:rPr>
              <a:t>9,800 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3C8EFC-09F5-48B4-B668-A4FA2B42E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386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先跑一个场景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F73B1C-23F7-4DFF-966B-6B80440ED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86000"/>
            <a:ext cx="232410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102C8-45AA-4A51-B011-71E40066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336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C997">
              <a:alpha val="12000"/>
            </a:srgbClr>
          </a:solidFill>
          <a:ln xmlns:a="http://schemas.openxmlformats.org/drawingml/2006/main" w="9525">
            <a:solidFill>
              <a:srgbClr val="20C997">
                <a:alpha val="25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053C2D-A537-4BC1-8DCE-7E35CE78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003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Pro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22111-E7DB-41CC-AF20-7F821664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0670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行业版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0DC8A4-2051-434C-901F-92419CED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524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C99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20C997"/>
                </a:solidFill>
                <a:latin typeface="PingFang SC"/>
                <a:ea typeface="PingFang SC"/>
                <a:cs typeface="PingFang SC"/>
              </a:rPr>
              <a:t>39,800 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6B8977-A86B-4936-A6D1-66A99D7F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0386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行业流程 + 客来来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F7EA07-3CD6-458A-A934-B67FAE83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232410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F92EF9-363E-4EBB-AEFA-ACDB6ED0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336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F1C">
              <a:alpha val="12000"/>
            </a:srgbClr>
          </a:solidFill>
          <a:ln xmlns:a="http://schemas.openxmlformats.org/drawingml/2006/main" w="9525">
            <a:solidFill>
              <a:srgbClr val="FF9F1C">
                <a:alpha val="25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86AD27-E139-4EDA-BC15-E715D8FB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003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Max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BF9D24-EC44-4D8D-BEA7-FFFEA8F9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670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企业版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34EAD0-AE83-41AD-BD0D-2707BC34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524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9F1C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FF9F1C"/>
                </a:solidFill>
                <a:latin typeface="PingFang SC"/>
                <a:ea typeface="PingFang SC"/>
                <a:cs typeface="PingFang SC"/>
              </a:rPr>
              <a:t>98,000 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448377-3EC6-4CB6-ACBA-0B3A44EF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386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多岗位协同 + 手机端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CFB743-801C-48C7-B74E-C1F6733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86000"/>
            <a:ext cx="2324100" cy="2114550"/>
          </a:xfrm>
          <a:prstGeom xmlns:a="http://schemas.openxmlformats.org/drawingml/2006/main" prst="roundRect">
            <a:avLst>
              <a:gd name="adj" fmla="val 7207"/>
            </a:avLst>
          </a:prstGeom>
          <a:solidFill xmlns:a="http://schemas.openxmlformats.org/drawingml/2006/main">
            <a:srgbClr val="FBFDFF"/>
          </a:solidFill>
          <a:ln xmlns:a="http://schemas.openxmlformats.org/drawingml/2006/main" w="9525">
            <a:solidFill>
              <a:srgbClr val="D6E3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3003B5-05B3-43E3-9629-B1D588572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33650"/>
            <a:ext cx="8382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5DFC">
              <a:alpha val="12000"/>
            </a:srgbClr>
          </a:solidFill>
          <a:ln xmlns:a="http://schemas.openxmlformats.org/drawingml/2006/main" w="9525">
            <a:solidFill>
              <a:srgbClr val="6D5DFC">
                <a:alpha val="25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B5AFBB-54E1-4BD5-857D-70C061B1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600325"/>
            <a:ext cx="838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Ultra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719A2D-9C43-4F77-921B-5E770C94D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06705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集团版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6D39EC-6C08-4E4A-994B-65C5867A0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D5DFC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6D5DFC"/>
                </a:solidFill>
                <a:latin typeface="PingFang SC"/>
                <a:ea typeface="PingFang SC"/>
                <a:cs typeface="PingFang SC"/>
              </a:rPr>
              <a:t>298,000 元起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1A6510-FAFF-4FAF-A3CB-55160BA8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38600"/>
            <a:ext cx="1828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E708F"/>
                </a:solidFill>
                <a:latin typeface="PingFang SC"/>
                <a:ea typeface="PingFang SC"/>
                <a:cs typeface="PingFang SC"/>
              </a:rPr>
              <a:t>多组织治理 + 全能力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570C2E7-7A7E-4952-80A0-519D7610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53000"/>
            <a:ext cx="9677400" cy="68580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061636"/>
          </a:solidFill>
          <a:ln xmlns:a="http://schemas.openxmlformats.org/drawingml/2006/main" w="9525">
            <a:solidFill>
              <a:srgbClr val="06163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6FE21A-C64E-4236-97ED-2594B817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435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C8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6C8FF"/>
                </a:solidFill>
                <a:latin typeface="PingFang SC"/>
                <a:ea typeface="PingFang SC"/>
                <a:cs typeface="PingFang SC"/>
              </a:rPr>
              <a:t>边界说明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2699A6-55A0-4E5F-B5D6-6B0412FE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143500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永久授权解决软件使用权；VIP / VIP+ / SVIP 是模型调用额度，不改变功能版本，也不等于永久免费模型调用。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416532-24EE-454D-8420-FE09D672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46D9DC-B742-4E94-9EAA-37481B89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8AA0BF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75177988"/>
      </p:ext>
    </p:extLst>
  </p:cSld>
</p:sld>
</file>

<file path=ppt/slides/slide8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636"/>
            </a:gs>
            <a:gs pos="60000">
              <a:srgbClr val="102B63"/>
            </a:gs>
            <a:gs pos="100000">
              <a:srgbClr val="1557D6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A4E193-CC8B-483C-B08C-78AE2864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61950"/>
            <a:ext cx="12192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9525">
            <a:solidFill>
              <a:srgbClr val="FFFFFF">
                <a:alpha val="4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6fe68f9124df5"/>
          <a:stretch xmlns:a="http://schemas.openxmlformats.org/drawingml/2006/main"/>
        </p:blipFill>
        <p:spPr>
          <a:xfrm xmlns:a="http://schemas.openxmlformats.org/drawingml/2006/main">
            <a:off x="10687050" y="438150"/>
            <a:ext cx="41910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C07E5-26F1-4D61-AD6A-88CA2A736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14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2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下一步不是买一套“大系统”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E5D97-A252-49A9-AB33-3EE10F2D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002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7EA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0">
                <a:solidFill>
                  <a:srgbClr val="D7EAFF"/>
                </a:solidFill>
                <a:latin typeface="PingFang SC"/>
                <a:ea typeface="PingFang SC"/>
                <a:cs typeface="PingFang SC"/>
              </a:rPr>
              <a:t>而是先选一个最痛的场景，30 天跑出可验收结果。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E55A0F-381E-4A2A-953F-8FC69A80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908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2000"/>
            </a:srgbClr>
          </a:solidFill>
          <a:ln xmlns:a="http://schemas.openxmlformats.org/drawingml/2006/main" w="13335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D97F9-5AE0-4827-9547-6AC9DC01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14675"/>
            <a:ext cx="70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A5EBF-E2BD-46ED-B093-4F92BE28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诊断需求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EB7555-AC29-4B5F-9558-30CC21FD0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2000"/>
            </a:srgbClr>
          </a:solidFill>
          <a:ln xmlns:a="http://schemas.openxmlformats.org/drawingml/2006/main" w="13335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AF6D2-6822-43E4-9A5A-20290A42B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114675"/>
            <a:ext cx="70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1B9BB9-CF9C-475C-8A6D-F0CA7F50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准备样本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4E784-9E10-41B9-89EB-543BC514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908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2000"/>
            </a:srgbClr>
          </a:solidFill>
          <a:ln xmlns:a="http://schemas.openxmlformats.org/drawingml/2006/main" w="13335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51A1B-3260-4DC0-80A6-D74F36F2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14675"/>
            <a:ext cx="70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6B2887-7D4B-4BD3-9BEB-F6F73A85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配置场景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45051-F8F6-4B69-BBA2-C14DA2EA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9908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12000"/>
            </a:srgbClr>
          </a:solidFill>
          <a:ln xmlns:a="http://schemas.openxmlformats.org/drawingml/2006/main" w="13335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6D5ED-5381-431B-AA0D-7F9F3A2B2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14675"/>
            <a:ext cx="70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C1BEFB-1048-4207-90DD-6CB9733EA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试运行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3035EE-5CC9-4104-8148-8399E47C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C8FF"/>
          </a:solidFill>
          <a:ln xmlns:a="http://schemas.openxmlformats.org/drawingml/2006/main" w="13335">
            <a:solidFill>
              <a:srgbClr val="16C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7626F4-70F1-4C08-B6B0-B10B292E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14675"/>
            <a:ext cx="70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61636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61636"/>
                </a:solidFill>
                <a:latin typeface="PingFang SC"/>
                <a:ea typeface="PingFang SC"/>
                <a:cs typeface="PingFang SC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0B8FDD-7649-4BDE-924E-83816A59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9052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验收回执</a:t>
            </a:r>
          </a:p>
        </p:txBody>
      </p:sp>
      <p:cxnSp>
        <p:nvCxnSpPr>
          <p:cNvPr id="50" name=""/>
          <p:cNvCxnSpPr>
            <a:stCxn xmlns:a="http://schemas.openxmlformats.org/drawingml/2006/main" id="5" idx="6"/>
            <a:endCxn xmlns:a="http://schemas.openxmlformats.org/drawingml/2006/main" id="8" idx="2"/>
          </p:cNvCxnSpPr>
          <p:nvPr/>
        </p:nvCxnSpPr>
        <p:spPr>
          <a:xfrm xmlns:a="http://schemas.openxmlformats.org/drawingml/2006/main">
            <a:off x="1657350" y="33432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FFFFF">
                <a:alpha val="45000"/>
              </a:srgbClr>
            </a:solidFill>
            <a:prstDash val="solid"/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8" idx="6"/>
            <a:endCxn xmlns:a="http://schemas.openxmlformats.org/drawingml/2006/main" id="11" idx="2"/>
          </p:cNvCxnSpPr>
          <p:nvPr/>
        </p:nvCxnSpPr>
        <p:spPr>
          <a:xfrm xmlns:a="http://schemas.openxmlformats.org/drawingml/2006/main">
            <a:off x="3429000" y="33432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FFFFF">
                <a:alpha val="45000"/>
              </a:srgbClr>
            </a:solidFill>
            <a:prstDash val="solid"/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11" idx="6"/>
            <a:endCxn xmlns:a="http://schemas.openxmlformats.org/drawingml/2006/main" id="14" idx="2"/>
          </p:cNvCxnSpPr>
          <p:nvPr/>
        </p:nvCxnSpPr>
        <p:spPr>
          <a:xfrm xmlns:a="http://schemas.openxmlformats.org/drawingml/2006/main">
            <a:off x="5200650" y="33432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FFFFF">
                <a:alpha val="45000"/>
              </a:srgbClr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14" idx="6"/>
            <a:endCxn xmlns:a="http://schemas.openxmlformats.org/drawingml/2006/main" id="17" idx="2"/>
          </p:cNvCxnSpPr>
          <p:nvPr/>
        </p:nvCxnSpPr>
        <p:spPr>
          <a:xfrm xmlns:a="http://schemas.openxmlformats.org/drawingml/2006/main">
            <a:off x="6972300" y="3343275"/>
            <a:ext cx="1066800" cy="0"/>
          </a:xfrm>
          <a:prstGeom xmlns:a="http://schemas.openxmlformats.org/drawingml/2006/main" prst="straightConnector1">
            <a:avLst/>
          </a:prstGeom>
          <a:ln xmlns:a="http://schemas.openxmlformats.org/drawingml/2006/main" w="17145">
            <a:solidFill>
              <a:srgbClr val="FFFFFF">
                <a:alpha val="45000"/>
              </a:srgbClr>
            </a:solidFill>
            <a:prstDash val="solid"/>
            <a:tailEnd type="arrow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F571A6-0C1B-4A79-AD96-A013E1D3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33950"/>
            <a:ext cx="693420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866788-7625-43A2-AC86-957AA40F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153025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建议从客服获客、销售跟进、知识管理或生产运营中选一个场景先跑。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D7BB7A-E612-4EAB-91B3-25C7072AA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24350"/>
            <a:ext cx="165735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743e565134be3"/>
          <a:stretch xmlns:a="http://schemas.openxmlformats.org/drawingml/2006/main"/>
        </p:blipFill>
        <p:spPr>
          <a:xfrm xmlns:a="http://schemas.openxmlformats.org/drawingml/2006/main">
            <a:off x="9067800" y="4476750"/>
            <a:ext cx="1352550" cy="1352550"/>
          </a:xfrm>
          <a:prstGeom xmlns:a="http://schemas.openxmlformats.org/drawingml/2006/main" prst="rect">
            <a:avLst/>
          </a:prstGeom>
        </p:spPr>
      </p:pic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2F3110-55DB-4872-8F2D-360A1B862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0483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扫码预约演示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34CEA9-1976-4922-A51C-4289D806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409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B9C9E8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B9C9E8"/>
                </a:solidFill>
                <a:latin typeface="PingFang SC"/>
                <a:ea typeface="PingFang SC"/>
                <a:cs typeface="PingFang SC"/>
              </a:rPr>
              <a:t>成都修茈科技有限公司 · XCAGI AUTOMATION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187BC7-7309-4A11-BAC5-CD3B1491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008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B9C9E8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B9C9E8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8409919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2026-07-28T04:31:15.7590000Z</dcterms:created>
  <dcterms:modified xsi:type="dcterms:W3CDTF">2026-07-28T04:31:15.7590000Z</dcterms:modified>
</coreProperties>
</file>