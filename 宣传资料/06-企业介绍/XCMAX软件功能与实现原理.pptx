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ecda632b34d85" /><Relationship Type="http://schemas.openxmlformats.org/officeDocument/2006/relationships/extended-properties" Target="/docProps/app.xml" Id="R0f786c7dbf2a401d" /><Relationship Type="http://schemas.openxmlformats.org/officeDocument/2006/relationships/officeDocument" Target="/ppt/presentation.xml" Id="R6caf46348a9343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363e14eae4e83"/>
  </p:sldMasterIdLst>
  <p:notesMasterIdLst>
    <p:notesMasterId xmlns:r="http://schemas.openxmlformats.org/officeDocument/2006/relationships" r:id="R36aeeb572a544627"/>
  </p:notesMasterIdLst>
  <p:sldIdLst>
    <p:sldId xmlns:r="http://schemas.openxmlformats.org/officeDocument/2006/relationships" id="256" r:id="R2fa3a71b38ab4835"/>
    <p:sldId xmlns:r="http://schemas.openxmlformats.org/officeDocument/2006/relationships" id="257" r:id="R6a7a17ad8ee24851"/>
    <p:sldId xmlns:r="http://schemas.openxmlformats.org/officeDocument/2006/relationships" id="258" r:id="R33e122ea58444d98"/>
    <p:sldId xmlns:r="http://schemas.openxmlformats.org/officeDocument/2006/relationships" id="259" r:id="R7af8638a9300469c"/>
    <p:sldId xmlns:r="http://schemas.openxmlformats.org/officeDocument/2006/relationships" id="260" r:id="Rd8748a69e93e4a37"/>
    <p:sldId xmlns:r="http://schemas.openxmlformats.org/officeDocument/2006/relationships" id="261" r:id="R3addd38f306242f5"/>
    <p:sldId xmlns:r="http://schemas.openxmlformats.org/officeDocument/2006/relationships" id="262" r:id="R592286cd72e84410"/>
    <p:sldId xmlns:r="http://schemas.openxmlformats.org/officeDocument/2006/relationships" id="263" r:id="Re3eaf85686b04bcf"/>
    <p:sldId xmlns:r="http://schemas.openxmlformats.org/officeDocument/2006/relationships" id="264" r:id="R1b0a5cafad93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5ce1671cf4b46" /><Relationship Type="http://schemas.openxmlformats.org/officeDocument/2006/relationships/slideMaster" Target="/ppt/slideMasters/slideMaster1.xml" Id="R569363e14eae4e83" /><Relationship Type="http://schemas.openxmlformats.org/officeDocument/2006/relationships/notesMaster" Target="/ppt/notesMasters/notesMaster1.xml" Id="R36aeeb572a544627" /><Relationship Type="http://schemas.openxmlformats.org/officeDocument/2006/relationships/presProps" Target="/ppt/presProps.xml" Id="Rf5e58d472ca44b8a" /><Relationship Type="http://schemas.openxmlformats.org/officeDocument/2006/relationships/tableStyles" Target="/ppt/tableStyles.xml" Id="Rc798b35c7c414171" /><Relationship Type="http://schemas.openxmlformats.org/officeDocument/2006/relationships/slide" Target="/ppt/slides/slide1.xml" Id="R2fa3a71b38ab4835" /><Relationship Type="http://schemas.openxmlformats.org/officeDocument/2006/relationships/slide" Target="/ppt/slides/slide2.xml" Id="R6a7a17ad8ee24851" /><Relationship Type="http://schemas.openxmlformats.org/officeDocument/2006/relationships/slide" Target="/ppt/slides/slide3.xml" Id="R33e122ea58444d98" /><Relationship Type="http://schemas.openxmlformats.org/officeDocument/2006/relationships/slide" Target="/ppt/slides/slide4.xml" Id="R7af8638a9300469c" /><Relationship Type="http://schemas.openxmlformats.org/officeDocument/2006/relationships/slide" Target="/ppt/slides/slide5.xml" Id="Rd8748a69e93e4a37" /><Relationship Type="http://schemas.openxmlformats.org/officeDocument/2006/relationships/slide" Target="/ppt/slides/slide6.xml" Id="R3addd38f306242f5" /><Relationship Type="http://schemas.openxmlformats.org/officeDocument/2006/relationships/slide" Target="/ppt/slides/slide7.xml" Id="R592286cd72e84410" /><Relationship Type="http://schemas.openxmlformats.org/officeDocument/2006/relationships/slide" Target="/ppt/slides/slide8.xml" Id="Re3eaf85686b04bcf" /><Relationship Type="http://schemas.openxmlformats.org/officeDocument/2006/relationships/slide" Target="/ppt/slides/slide9.xml" Id="R1b0a5cafad93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037ae07cf4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9c7f8b803450d" /><Relationship Type="http://schemas.openxmlformats.org/officeDocument/2006/relationships/notesMaster" Target="/ppt/notesMasters/notesMaster1.xml" Id="Rd5d1f7ac6f9f4f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72146acd674935" /><Relationship Type="http://schemas.openxmlformats.org/officeDocument/2006/relationships/notesMaster" Target="/ppt/notesMasters/notesMaster1.xml" Id="Rc283ef17dfd045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57e63cadcf4995" /><Relationship Type="http://schemas.openxmlformats.org/officeDocument/2006/relationships/notesMaster" Target="/ppt/notesMasters/notesMaster1.xml" Id="R4639d2a2f67f43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fd2c6eb4304af9" /><Relationship Type="http://schemas.openxmlformats.org/officeDocument/2006/relationships/notesMaster" Target="/ppt/notesMasters/notesMaster1.xml" Id="Raf0fd29bb7a6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44c076773a4de2" /><Relationship Type="http://schemas.openxmlformats.org/officeDocument/2006/relationships/notesMaster" Target="/ppt/notesMasters/notesMaster1.xml" Id="R08a7b2b353404f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8a8b8659aa45e3" /><Relationship Type="http://schemas.openxmlformats.org/officeDocument/2006/relationships/notesMaster" Target="/ppt/notesMasters/notesMaster1.xml" Id="R3afdbb86ae5f41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5ba70bc2d64886" /><Relationship Type="http://schemas.openxmlformats.org/officeDocument/2006/relationships/notesMaster" Target="/ppt/notesMasters/notesMaster1.xml" Id="R0b5f07745bd040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0a0737e6e4416f" /><Relationship Type="http://schemas.openxmlformats.org/officeDocument/2006/relationships/notesMaster" Target="/ppt/notesMasters/notesMaster1.xml" Id="R5b447e32bd5b46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3e3f56421c4df4" /><Relationship Type="http://schemas.openxmlformats.org/officeDocument/2006/relationships/notesMaster" Target="/ppt/notesMasters/notesMaster1.xml" Id="Rc5bcfed8a3964d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FHD/docs/FEATURE_MAP.md: functional SSOT, AI chat, workflow, Mod and import/export module map.</a:t>
            </a:r>
          </a:p>
          <a:p xmlns:a="http://schemas.openxmlformats.org/drawingml/2006/main">
            <a:r>
              <a:t>- FHD/docs/ARCHITECTURE.md: Neuro-DDD layering and desktop/web runtime split.</a:t>
            </a:r>
          </a:p>
          <a:p xmlns:a="http://schemas.openxmlformats.org/drawingml/2006/main">
            <a:r>
              <a:t>- 成都修茈科技有限公司/assets/xiu-ci-logo.png and screenshots/hero-workforce.png: internal brand/product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FHD/docs/FEATURE_MAP.md: channel, AI chat, workflow, template, Excel and Mod boundaries.</a:t>
            </a:r>
          </a:p>
          <a:p xmlns:a="http://schemas.openxmlformats.org/drawingml/2006/main">
            <a:r>
              <a:t>- FHD/docs/architecture/CUSTOMER_TICKET_BUS_SSOT.md: customer ticket lifecycle, incident bus and visible progress writeback.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FHD/docs/ARCHITECTURE.md: Presentation/Application/Domain/Infrastructure layering and Neuro-DDD principle.</a:t>
            </a:r>
          </a:p>
          <a:p xmlns:a="http://schemas.openxmlformats.org/drawingml/2006/main">
            <a:r>
              <a:t>- FHD/docs/FEATURE_MAP.md: module ownership, AI chat/workflow/tools, Mod and import/export SSOT.</a:t>
            </a:r>
          </a:p>
          <a:p xmlns:a="http://schemas.openxmlformats.org/drawingml/2006/main">
            <a:r>
              <a:t>- FHD/docs/MOD_EXTENSION_LOADER_DESIGN.md: manifest extensions for middleware, background tasks, migrations, events, overrides and frontend plugins.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FHD/docs/FEATURE_MAP.md: AI chat service, planner/tools workflow and intent service routing.</a:t>
            </a:r>
          </a:p>
          <a:p xmlns:a="http://schemas.openxmlformats.org/drawingml/2006/main">
            <a:r>
              <a:t>- FHD/docs/ARCHITECTURE.md: business logic in domain layer and AI orchestration through NeuroBus.</a:t>
            </a:r>
          </a:p>
          <a:p xmlns:a="http://schemas.openxmlformats.org/drawingml/2006/main">
            <a:r>
              <a:t>- FHD/docs/aiopen.md: tool catalog, UI/session operations and secured control surfaces.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成都修茈科技有限公司/MODstore_deploy/docs/RAG_KNOWLEDGE_BASE.md: Chroma PersistentClient, collections, membership, ingestion and RAG injection.</a:t>
            </a:r>
          </a:p>
          <a:p xmlns:a="http://schemas.openxmlformats.org/drawingml/2006/main">
            <a:r>
              <a:t>- FHD/docs/FEATURE_MAP.md: document, template, Excel import/export and AI workflow positions.</a:t>
            </a:r>
          </a:p>
          <a:p xmlns:a="http://schemas.openxmlformats.org/drawingml/2006/main">
            <a:r>
              <a:t>- 成都修茈科技有限公司/assets/screenshots/ai-ecosystem.png: internal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FHD/docs/architecture/CUSTOMER_TICKET_BUS_SSOT.md: customer-service ticket closure bus, CS* ticket and incident progress writeback.</a:t>
            </a:r>
          </a:p>
          <a:p xmlns:a="http://schemas.openxmlformats.org/drawingml/2006/main">
            <a:r>
              <a:t>- FHD/docs/FEATURE_MAP.md: AI chat, intent, workflow and customer-service module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FHD/docs/MOD_EXTENSION_LOADER_DESIGN.md: manifest extensions, loaders and extension types.</a:t>
            </a:r>
          </a:p>
          <a:p xmlns:a="http://schemas.openxmlformats.org/drawingml/2006/main">
            <a:r>
              <a:t>- FHD/docs/FEATURE_MAP.md: Mod/employee_pack strategy and unique editing source rules.</a:t>
            </a:r>
          </a:p>
          <a:p xmlns:a="http://schemas.openxmlformats.org/drawingml/2006/main">
            <a:r>
              <a:t>- 成都修茈科技有限公司/assets/screenshots/mod-store.png: internal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FHD/docs/ARCHITECTURE.md: desktop runtime and web runtime architecture.</a:t>
            </a:r>
          </a:p>
          <a:p xmlns:a="http://schemas.openxmlformats.org/drawingml/2006/main">
            <a:r>
              <a:t>- FHD/docs/DELIVERABLE_PRODUCT.md: customer-owned deployment path and enterprise deliverable boundary.</a:t>
            </a:r>
          </a:p>
          <a:p xmlns:a="http://schemas.openxmlformats.org/drawingml/2006/main">
            <a:r>
              <a:t>- FHD/docs/security/LOCAL_DATA_POLICY.md: local data classes, auth, redaction, cleanup and audit boundaries.</a:t>
            </a:r>
          </a:p>
          <a:p xmlns:a="http://schemas.openxmlformats.org/drawingml/2006/main">
            <a:r>
              <a:t>- FHD/docs/SSOT_INDEX.md: account/pricing and deployment-mode SSOT pointers; visible slide intentionally avoids stale price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FHD/docs/architecture/CUSTOMER_TICKET_BUS_SSOT.md: ticket lifecycle and visible lifecycle progress acceptance.</a:t>
            </a:r>
          </a:p>
          <a:p xmlns:a="http://schemas.openxmlformats.org/drawingml/2006/main">
            <a:r>
              <a:t>- FHD/docs/DELIVERABLE_PRODUCT.md: customer deployment and generic shell + industry seed daily use path.</a:t>
            </a:r>
          </a:p>
          <a:p xmlns:a="http://schemas.openxmlformats.org/drawingml/2006/main">
            <a:r>
              <a:t>- FHD/docs/FEATURE_MAP.md: workflow, AI chat and module SSOT for demo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96592259e45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d54b6daf624553" /><Relationship Type="http://schemas.openxmlformats.org/officeDocument/2006/relationships/slideLayout" Target="/ppt/slideLayouts/slideLayout1.xml" Id="R3c7d074fba0244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d074fba0244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d896ea06e4b5e" /><Relationship Type="http://schemas.openxmlformats.org/officeDocument/2006/relationships/image" Target="/ppt/media/image.png" Id="Rc2aab334c0704a21" /><Relationship Type="http://schemas.openxmlformats.org/officeDocument/2006/relationships/image" Target="/ppt/media/image2.png" Id="R1ea7669b06c14ecf" /><Relationship Type="http://schemas.openxmlformats.org/officeDocument/2006/relationships/notesSlide" Target="/ppt/notesSlides/notesSlide1.xml" Id="Reb037fb5e7134e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acb437e694ca1" /><Relationship Type="http://schemas.openxmlformats.org/officeDocument/2006/relationships/image" Target="/ppt/media/image3.png" Id="Rf80c7ecd3bf346e5" /><Relationship Type="http://schemas.openxmlformats.org/officeDocument/2006/relationships/notesSlide" Target="/ppt/notesSlides/notesSlide2.xml" Id="R92e7fc9628ea47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04557d19043ec" /><Relationship Type="http://schemas.openxmlformats.org/officeDocument/2006/relationships/image" Target="/ppt/media/image4.png" Id="Rb59c870a18b04432" /><Relationship Type="http://schemas.openxmlformats.org/officeDocument/2006/relationships/notesSlide" Target="/ppt/notesSlides/notesSlide3.xml" Id="R2dff756561c046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8e72b95774d46" /><Relationship Type="http://schemas.openxmlformats.org/officeDocument/2006/relationships/image" Target="/ppt/media/image5.png" Id="R0d0fb345bb844281" /><Relationship Type="http://schemas.openxmlformats.org/officeDocument/2006/relationships/notesSlide" Target="/ppt/notesSlides/notesSlide4.xml" Id="R201ea58e2c034d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4a6a84d4e44c6" /><Relationship Type="http://schemas.openxmlformats.org/officeDocument/2006/relationships/image" Target="/ppt/media/image6.png" Id="R6d8b3d275c4d4c6a" /><Relationship Type="http://schemas.openxmlformats.org/officeDocument/2006/relationships/image" Target="/ppt/media/image7.png" Id="R233293bf1f6d4159" /><Relationship Type="http://schemas.openxmlformats.org/officeDocument/2006/relationships/notesSlide" Target="/ppt/notesSlides/notesSlide5.xml" Id="R7fad60136e8248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f4b0964714b82" /><Relationship Type="http://schemas.openxmlformats.org/officeDocument/2006/relationships/image" Target="/ppt/media/image8.png" Id="R4e9fb9896e5a4da7" /><Relationship Type="http://schemas.openxmlformats.org/officeDocument/2006/relationships/notesSlide" Target="/ppt/notesSlides/notesSlide6.xml" Id="Rde873786b3a94d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6019b070d4701" /><Relationship Type="http://schemas.openxmlformats.org/officeDocument/2006/relationships/image" Target="/ppt/media/image9.png" Id="R66b7b7b09b1d4ecd" /><Relationship Type="http://schemas.openxmlformats.org/officeDocument/2006/relationships/image" Target="/ppt/media/image10.png" Id="Rf7ab8bd2cc194954" /><Relationship Type="http://schemas.openxmlformats.org/officeDocument/2006/relationships/notesSlide" Target="/ppt/notesSlides/notesSlide7.xml" Id="R02723cfa5b0b40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62ef7c99b4a97" /><Relationship Type="http://schemas.openxmlformats.org/officeDocument/2006/relationships/image" Target="/ppt/media/image11.png" Id="R34ac641f457c4375" /><Relationship Type="http://schemas.openxmlformats.org/officeDocument/2006/relationships/notesSlide" Target="/ppt/notesSlides/notesSlide8.xml" Id="R09b08b0cd3874e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9578487ee4ad6" /><Relationship Type="http://schemas.openxmlformats.org/officeDocument/2006/relationships/image" Target="/ppt/media/image12.png" Id="Rad175bf4aebf4d03" /><Relationship Type="http://schemas.openxmlformats.org/officeDocument/2006/relationships/notesSlide" Target="/ppt/notesSlides/notesSlide9.xml" Id="R31604cf598d64c5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37"/>
            </a:gs>
            <a:gs pos="62000">
              <a:srgbClr val="0A2A66"/>
            </a:gs>
            <a:gs pos="100000">
              <a:srgbClr val="0F7FE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E3CD0-F7B3-4BE6-B4A6-561E1B3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ab334c0704a21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E71B3-1E37-45B2-8231-313E7CCB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"/>
            <a:ext cx="3276600" cy="3276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22000"/>
                </a:srgbClr>
              </a:gs>
              <a:gs pos="45000">
                <a:srgbClr val="18C8FF">
                  <a:alpha val="18000"/>
                </a:srgbClr>
              </a:gs>
              <a:gs pos="100000">
                <a:srgbClr val="18C8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7D94F-C3D4-4F65-9464-4136525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22A"/>
              </a:gs>
              <a:gs pos="100000">
                <a:srgbClr val="06122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55346-EBAA-43E6-8949-8C23363B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581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XCMAX 软件功能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与实现原理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54091-2665-4A1F-BF79-F0592AF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C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9ECFF"/>
                </a:solidFill>
                <a:latin typeface="PingFang SC"/>
                <a:ea typeface="PingFang SC"/>
                <a:cs typeface="PingFang SC"/>
              </a:rPr>
              <a:t>企业 AI 员工与业务自动化架构说明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5627C-E7FB-434A-95DB-AEFC3BF3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D4F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9D4F3"/>
                </a:solidFill>
                <a:latin typeface="PingFang SC"/>
                <a:ea typeface="PingFang SC"/>
                <a:cs typeface="PingFang SC"/>
              </a:rPr>
              <a:t>不是单点聊天工具，而是把渠道、数据、知识、流程和验收连成闭环。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63F96-0525-4093-9FB1-2DEABFDA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CDE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C6C87-C13D-49B4-9979-B52EEDC5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3C4F6-0BB1-4EB7-9FB2-61CC79C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讲功能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7C595-34F6-4B55-A8E9-671B2B01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CDE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54F4D-E1C3-454F-887B-DEE824C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7DEE2-E685-4F68-AD2B-AAF2E045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292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讲原理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70C8A-4C7B-415A-AB86-274397E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CDE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31D17-AC86-454D-B7EB-404D1D9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991EB-DA20-459E-83F3-6584F5C9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292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讲交付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29DC5-3560-477A-9FA9-E6C16611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2862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7669b06c14ecf"/>
          <a:srcRect xmlns:a="http://schemas.openxmlformats.org/drawingml/2006/main" l="7872" t="0" r="78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581150"/>
            <a:ext cx="405765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DC556-0B22-46E5-A3CF-8F6C0B86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7EF56-EEC6-4167-A129-7A9DD2CE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5043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137081-6137-40CA-80B6-6FC55B76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功能不是列表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1BBF6-063C-4047-80D3-A397216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C756B-BA93-4CF7-9E64-C192BC6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客户看到的是功能，背后是一条可回执闭环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D043D-674A-4479-917D-8BAD2587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c7ecd3bf346e5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43F17-C60B-4808-8110-FA174AA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路演时不要先讲模型参数，先讲客户买到什么：把分散入口、资料、判断、执行、记录和回执串成一条业务链。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A7EC4-94DC-478B-8BB0-5646B5C1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08933-18FD-4955-9EA2-40CE8E5C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17822-6545-40D5-A3E5-94C15FE7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渠道入口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E9CB9-9315-4BDF-9AFE-CEFB9ED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官网表单 / 二维码 / 企业微信 / 桌面端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5B769-77AC-40E4-9C32-CB3E4543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23B52-992A-45BC-B755-B198AE59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8FF"/>
          </a:solidFill>
          <a:ln xmlns:a="http://schemas.openxmlformats.org/drawingml/2006/main" w="0">
            <a:solidFill>
              <a:srgbClr val="18C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DEBD3-4A20-457A-A7E0-2EE2823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资料沉淀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934F8-BCBE-4CD3-BDF3-0F9DBAE8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Excel、文档、图片、客户历史、业务字段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4CB37-3224-49C1-BA90-49AA161C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4A71D-0D96-4DA5-97DC-E0FD6DFA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6D5D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6F3E7-1E4C-4193-8470-1972C14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知识检索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07522-D883-4264-8660-9CAF367E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623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知识库召回 + 场景上下文补齐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6AA96-6FF0-4263-BE26-D7182A3B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D4E1C-8749-465C-B539-2AA88673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57A"/>
          </a:solidFill>
          <a:ln xmlns:a="http://schemas.openxmlformats.org/drawingml/2006/main" w="0">
            <a:solidFill>
              <a:srgbClr val="19B5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F5CAE-3C6D-4CC6-B870-E33BC2D4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AI 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3A68F-8534-41A6-98FA-BE39289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识别意图、规划步骤、调用工具、生成结果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1AD82-7E41-408C-AD79-74A7D65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1DD13-8AFA-4415-A2E2-A1B00C8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56B94-D7F3-46DC-9BF0-54E7732D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人审权限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9F5A2-92EF-4111-8DB5-14E3BCC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关键动作确认、账号隔离、操作留痕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355B3-3CCF-48EE-82DD-74F6C7E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E5B0C-AC18-49CC-B71C-D0191A5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E5C"/>
          </a:solidFill>
          <a:ln xmlns:a="http://schemas.openxmlformats.org/drawingml/2006/main" w="0">
            <a:solidFill>
              <a:srgbClr val="EF4E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581AC-0D33-4432-BC78-26D8467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工单回执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A1CC7-92F7-4BBC-8142-1791B969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咨询编号、处理进度、结果验收</a:t>
            </a:r>
          </a:p>
        </p:txBody>
      </p:sp>
      <p:cxnSp>
        <p:nvCxnSpPr>
          <p:cNvPr id="7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228850" y="3333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B4F8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38600" y="3333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B4F8"/>
            </a:solidFill>
            <a:prstDash val="soli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48350" y="3333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B4F8"/>
            </a:solidFill>
            <a:prstDash val="solid"/>
            <a:tailEnd type="arrow" w="med" len="med"/>
          </a:ln>
        </p:spPr>
      </p:cxnSp>
      <p:cxnSp>
        <p:nvCxnSpPr>
          <p:cNvPr id="74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658100" y="3333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B4F8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67850" y="3333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B4F8"/>
            </a:solidFill>
            <a:prstDash val="solid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406580-A358-4610-869C-826B1AA7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43450"/>
            <a:ext cx="98679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71A3F"/>
          </a:solidFill>
          <a:ln xmlns:a="http://schemas.openxmlformats.org/drawingml/2006/main" w="9525">
            <a:solidFill>
              <a:srgbClr val="071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F9194-1211-45D2-87C4-5B9639C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C8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C8FF"/>
                </a:solidFill>
                <a:latin typeface="PingFang SC"/>
                <a:ea typeface="PingFang SC"/>
                <a:cs typeface="PingFang SC"/>
              </a:rPr>
              <a:t>一句话定位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1804BB-A6F5-4035-A226-D1600D9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149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XCMAX 是企业 AI 员工平台：把“问答”推进到“识别、执行、交付、验收”。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9F177-B9D1-4F33-9943-CCF1840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038668-1C83-41A6-9610-086E9DF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1999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66A73C-2897-46B8-8021-A966D509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平台分层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7216F-2C15-4450-9987-9F948A82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995D7-273A-43C4-9C10-3E103B59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整体架构：一套宿主，多个能力层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DBF69-B414-4639-A752-985F00E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c870a18b04432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90C00-6FE3-4BAB-88B2-F962E78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客户不用理解每个技术组件，但要理解系统不是“外挂聊天框”：业务入口、数据、AI 编排、扩展和治理边界是分层交付的。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0BEAA-5689-4359-9B0C-FCFEB6E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28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4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79401-5F30-4BBC-961A-D79EA4E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B8FD6-45C9-4F5E-8BA4-4CFDED5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入口层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E952E-5E02-4C57-B38E-E5723A33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526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官网 / 获客二维码 / 企业微信 / 桌面端 / 移动端 / AI 群聊 / AIOPEN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EDDA7-46D2-4C0C-8850-08622CDA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28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1A1A9-5F8C-4F8C-924D-609B1F9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8FF"/>
          </a:solidFill>
          <a:ln xmlns:a="http://schemas.openxmlformats.org/drawingml/2006/main" w="0">
            <a:solidFill>
              <a:srgbClr val="18C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B663D-921B-4F47-8C48-B5F33DF5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应用层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94DD8-FD23-4871-96A0-74AA76B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622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智能对话、客户工单、模板填单、销售跟进、生产运营、员工工作台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59C21-56B6-496E-AA5A-775E63DA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828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4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D2297-9D82-458B-80FF-ECC94CB5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6D5D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7676E-A041-4235-9BDD-4B38B81B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编排层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E352B-489B-4D22-96FA-4F5A448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718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Intent 识别、Workflow、Tool Calling、NeuroBus、incident_bus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9BF14-5B19-44C2-8CFB-36816B7A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828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B1711-2088-4EA5-9E29-616AD6FB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57A"/>
          </a:solidFill>
          <a:ln xmlns:a="http://schemas.openxmlformats.org/drawingml/2006/main" w="0">
            <a:solidFill>
              <a:srgbClr val="19B5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7555A-E05D-4568-ABE9-E2FFCCCF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知识与数据层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0E5E8-7DF5-4708-9713-7657379A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814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Excel / Word / PDF / OCR、RAG 知识库、SQLite / 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D6370-6AB8-4B89-A7F7-BF3B13CA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828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7E4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5676A-1252-4A32-9D2A-2F57C11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7CF0C-CBB9-4959-B8DD-DD8811F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扩展层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16EE9-30E3-4C0A-8BD8-3F246F6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910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Mod、employee_pack、Manifest extensions、行业种子包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654FB-6388-4D19-AC33-A04C98BA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828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A653E-56BC-4A25-BD8B-906C6308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E5C"/>
          </a:solidFill>
          <a:ln xmlns:a="http://schemas.openxmlformats.org/drawingml/2006/main" w="0">
            <a:solidFill>
              <a:srgbClr val="EF4E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3FBC0-1AE0-40A2-ADF8-8FD9551F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治理层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1DFB2-CFC8-40EF-8E67-E56FBF90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006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权限、日志脱敏、版本授权、Token 计费边界、验收回执</a:t>
            </a:r>
          </a:p>
        </p:txBody>
      </p:sp>
      <p:cxnSp>
        <p:nvCxnSpPr>
          <p:cNvPr id="72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057775" y="27432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EF2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057775" y="33528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EF2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057775" y="39624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EF2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057775" y="45720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EF2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2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057775" y="51816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EF2"/>
            </a:solidFill>
            <a:prstDash val="soli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926FCC-ED99-4CBB-B232-D7E63C2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752600" cy="3181350"/>
          </a:xfrm>
          <a:prstGeom xmlns:a="http://schemas.openxmlformats.org/drawingml/2006/main" prst="roundRect">
            <a:avLst>
              <a:gd name="adj" fmla="val 8696"/>
            </a:avLst>
          </a:prstGeom>
          <a:gradFill xmlns:a="http://schemas.openxmlformats.org/drawingml/2006/main">
            <a:gsLst>
              <a:gs pos="0">
                <a:srgbClr val="071A3F"/>
              </a:gs>
              <a:gs pos="100000">
                <a:srgbClr val="0D3B91"/>
              </a:gs>
            </a:gsLst>
            <a:lin ang="10800000"/>
          </a:gradFill>
          <a:ln xmlns:a="http://schemas.openxmlformats.org/drawingml/2006/main" w="9525">
            <a:solidFill>
              <a:srgbClr val="071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AE3E2E-A997-4A96-BC13-99AEBB8F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0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交付视角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25257B-77DA-4C63-8E56-B12EEC9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105150"/>
            <a:ext cx="12001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rPr>
              <a:t>每一层都能单独验收：入口能进、资料能查、AI能调工具、流程有进度、结果能回执。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4184EF-494F-4BA7-BBE6-A06179B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434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C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C8FF"/>
                </a:solidFill>
                <a:latin typeface="PingFang SC"/>
                <a:ea typeface="PingFang SC"/>
                <a:cs typeface="PingFang SC"/>
              </a:rPr>
              <a:t>这就是销售讲“可靠”的依据。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4CBB02-E83B-4873-BCFE-10443204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78A423-1916-4F73-B116-25C5348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1881785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BFF"/>
            </a:gs>
            <a:gs pos="55000">
              <a:srgbClr val="FFFFFF"/>
            </a:gs>
            <a:gs pos="100000">
              <a:srgbClr val="ED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F7905-086B-4C80-B7C3-74690C24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AI 执行原理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0A057-5DCF-4C07-9B41-DB403BE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B3C0-99A3-43BE-BCF9-9DBE1287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AI 员工是可验收的执行单元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237DB-7A49-4E39-A2FE-3FEDB31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b345bb844281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ai-employee-core">
            <a:extLst xmlns:a="http://schemas.openxmlformats.org/drawingml/2006/main">
              <a:ext uri="{FF2B5EF4-FFF2-40B4-BE49-F238E27FC236}">
                <a16:creationId xmlns:a16="http://schemas.microsoft.com/office/drawing/2014/main" id="{BB1D5F43-88B1-48E3-94DC-E7B7EE0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A3F"/>
          </a:solidFill>
          <a:ln xmlns:a="http://schemas.openxmlformats.org/drawingml/2006/main" w="9525">
            <a:solidFill>
              <a:srgbClr val="071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F67DA-17A6-4196-BC72-E599BB77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860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员工核心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A284-7067-48AF-807D-E32DD06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FE3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FE3FF"/>
                </a:solidFill>
                <a:latin typeface="PingFang SC"/>
                <a:ea typeface="PingFang SC"/>
                <a:cs typeface="PingFang SC"/>
              </a:rPr>
              <a:t>意图识别 · 任务规划 · 工具调用 · 结果生成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A2A70-3CFE-4C67-BF37-A0EA9212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56859-BA8D-4A18-8FC9-8D8A18A1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44FC5-8BF1-4282-A34F-F396F15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业务字段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历史上下文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22A9F-F79A-46F3-A068-5F99C32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6205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25E68-3D9F-4B54-908D-1AE1195D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2954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D5DF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D5DFC"/>
                </a:solidFill>
                <a:latin typeface="PingFang SC"/>
                <a:ea typeface="PingFang SC"/>
                <a:cs typeface="PingFang SC"/>
              </a:rPr>
              <a:t>知识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55B63-849B-4840-92E7-9575AE3A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3830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知识库召回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文档片段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企业规则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F4161-2C98-45F5-AA8C-B00670D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6205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4BD0A-EA3B-4909-920F-EA29E71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54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B5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B57A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12E7D-A846-49A8-AB7F-D8F8A714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查表/写表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提交工单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调用系统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66FFE-C6B4-43EE-A726-6949CD0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BBF2F-FCE5-443C-8D23-A97EA802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146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9F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9F1C"/>
                </a:solidFill>
                <a:latin typeface="PingFang SC"/>
                <a:ea typeface="PingFang SC"/>
                <a:cs typeface="PingFang SC"/>
              </a:rPr>
              <a:t>人审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447DB-204F-4025-94C1-268CCDE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敏感动作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关键节点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权限确认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B7E59-A529-4422-A92D-A853985B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50E58-865D-403D-853B-9D9E00D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96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4E5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F4E5C"/>
                </a:solidFill>
                <a:latin typeface="PingFang SC"/>
                <a:ea typeface="PingFang SC"/>
                <a:cs typeface="PingFang SC"/>
              </a:rPr>
              <a:t>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42864-DE05-4BC1-9417-30BD6E2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625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过程日志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进度状态</a:t>
            </a:r>
          </a:p>
          <a:p xmlns:a="http://schemas.openxmlformats.org/drawingml/2006/main">
            <a:pPr algn="ctr">
              <a:def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验收证据</a:t>
            </a:r>
          </a:p>
        </p:txBody>
      </p: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7000" y="2914650"/>
            <a:ext cx="195262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ADE9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2" idx="2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38575" y="2228850"/>
            <a:ext cx="7810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ADE9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5" idx="2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572375" y="2228850"/>
            <a:ext cx="9715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ADE9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572375" y="2914650"/>
            <a:ext cx="204787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ADE9"/>
            </a:solidFill>
            <a:prstDash val="dash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2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048375" y="3905250"/>
            <a:ext cx="47625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ADE9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143D9-FC5C-4067-A99C-1A6BDF1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4381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9525">
            <a:solidFill>
              <a:srgbClr val="CBD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02B33-F0BE-43A5-856B-9F7B223F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关键动作可配置为先确认再执行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9CAF27-904D-4A08-9E26-C9F54721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CEBAB-F620-4CA1-8CDD-A4101B5F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4921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E6783-1A09-4713-AD26-F70D2DCD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RAG 与企业知识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6EE54-2C77-41F0-B6B4-A23C437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1438A-C59D-46C5-B0D8-B6143F3E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知识库原理：把资料变成可检索的上下文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13828-6401-4012-9DDB-F82B65F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b3d275c4d4c6a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DA294-6F64-4E13-8B0C-C956A67C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786C4-FA9C-4807-95F8-4163169E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F950E-D96D-4E15-A5BB-6CF6343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企业资料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32E30-82EB-433D-8FA4-82EDE47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合同、报价、产品说明、SOP、聊天记录、Excel 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1CC3B-C369-4D37-859D-8EABCF0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AF4A2-4BDA-4EE5-8233-70C76451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8FF"/>
          </a:solidFill>
          <a:ln xmlns:a="http://schemas.openxmlformats.org/drawingml/2006/main" w="0">
            <a:solidFill>
              <a:srgbClr val="18C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0CF71-0FDD-4B09-B4CC-AD200962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结构化处理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543E6-3E1B-4D27-A59C-E5DBD1D9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清洗、切片、字段识别、权限归属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7B6A1-5F37-4A56-91A2-671CCCF6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4B608-BC6B-47F5-AA9C-8BB070AF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6D5D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F2638-1EFC-4839-BA94-20F20BE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向量检索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9BD1B-BC61-4C0C-8CFA-8210EFB8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Embedding + Chroma collection + membership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4B867-643A-4AE2-B81C-D692F615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5A016-8487-4086-A2C5-3C9A6A23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57A"/>
          </a:solidFill>
          <a:ln xmlns:a="http://schemas.openxmlformats.org/drawingml/2006/main" w="0">
            <a:solidFill>
              <a:srgbClr val="19B5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C7E8A-3B58-4FA8-869F-0439AED8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上下文注入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58B78-FDA3-48AD-9FFD-0872C536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051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把命中文档片段放入 AI 员工执行上下文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14600" y="2790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48200" y="2790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781800" y="2790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D04BD-9F2F-4EE6-BEDF-502F9219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1676400" cy="1714500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102A66"/>
              </a:gs>
              <a:gs pos="100000">
                <a:srgbClr val="145BDC"/>
              </a:gs>
            </a:gsLst>
            <a:lin ang="10800000"/>
          </a:gradFill>
          <a:ln xmlns:a="http://schemas.openxmlformats.org/drawingml/2006/main" w="9525">
            <a:solidFill>
              <a:srgbClr val="1557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04FAF-EDBA-4074-9402-C2BED1C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7455F-10D5-452E-81B3-57255486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rPr>
              <a:t>答案有来源</a:t>
            </a:r>
          </a:p>
          <a:p xmlns:a="http://schemas.openxmlformats.org/drawingml/2006/main">
            <a:pPr algn="ctr">
              <a:def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rPr>
              <a:t>动作有上下文</a:t>
            </a:r>
          </a:p>
          <a:p xmlns:a="http://schemas.openxmlformats.org/drawingml/2006/main">
            <a:pPr algn="ctr">
              <a:def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CFF"/>
                </a:solidFill>
                <a:latin typeface="PingFang SC"/>
                <a:ea typeface="PingFang SC"/>
                <a:cs typeface="PingFang SC"/>
              </a:rPr>
              <a:t>资料可隔离</a:t>
            </a:r>
          </a:p>
        </p:txBody>
      </p: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915400" y="2790825"/>
            <a:ext cx="533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7D6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80C45-8AD0-4250-9186-F856B5C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40957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293bf1f6d4159"/>
          <a:srcRect xmlns:a="http://schemas.openxmlformats.org/drawingml/2006/main" l="2047" t="0" r="2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650" y="4400550"/>
            <a:ext cx="1695450" cy="1104900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960966-2FBA-4885-80F7-FE1114C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38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讲法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F94DF-EEF5-4C1C-A921-71142F50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965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资料进入统一知识引擎，再按业务场景召回给 AI 员工。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ACE34-785B-4835-A684-A2010E3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46291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FDE6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42CA9-6B4C-485E-BBB9-8C99ADD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9F1C"/>
                </a:solidFill>
                <a:latin typeface="PingFang SC"/>
                <a:ea typeface="PingFang SC"/>
                <a:cs typeface="PingFang SC"/>
              </a:rPr>
              <a:t>客户价值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5D7B1-B2F5-4C40-A60C-DB011020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387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2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23B"/>
                </a:solidFill>
                <a:latin typeface="PingFang SC"/>
                <a:ea typeface="PingFang SC"/>
                <a:cs typeface="PingFang SC"/>
              </a:rPr>
              <a:t>销售能查产品与报价，客服能查历史问题，运营能查制度流程；每个答案都有来源边界。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676F3-0DAD-422F-9AFE-4129AA9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2A85F-A4EE-4418-8B60-89103442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259277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BFF"/>
            </a:gs>
            <a:gs pos="45000">
              <a:srgbClr val="FFFFFF"/>
            </a:gs>
            <a:gs pos="100000">
              <a:srgbClr val="F0F7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7C242-9ED3-4943-93B8-86F6FA6C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获客与服务闭环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5DA5D-DB42-4FF7-9E7C-E7C1AF3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C60D2-8BF9-4825-8C7F-F4321C4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工单闭环：客户问题进入事件总线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4C580-CBB3-4B20-8F17-3CE056BE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fb9896e5a4da7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6A0F3-C94C-46B3-8530-93C34EAD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504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FBD80-8711-4A49-9832-1C9C4BDA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E2590-47F5-405D-BED3-19B24ECE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扫码/企微/官网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C65BE-420C-44A8-818E-93E5B5BD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客户留下公司、岗位、痛点和联系信息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AE999-63BA-40B3-9C32-AFD82454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1504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BBCD8-A1A4-44F2-86DB-8FFFD28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8FF"/>
          </a:solidFill>
          <a:ln xmlns:a="http://schemas.openxmlformats.org/drawingml/2006/main" w="0">
            <a:solidFill>
              <a:srgbClr val="18C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528B8-61D9-4B2F-B1DB-8CED7C32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需求问卷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0473D-35F5-4D5F-8C6B-424DC0C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像聊天一样逐题收集，不让客户先选技术名词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4B7DE-5530-40B7-8B2C-9893A32C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1504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5BF69-0406-477E-AB58-B096C72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6D5D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B1C5E-63F1-4F4E-8B9D-033AFB7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生成编号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986BB-950F-471D-8677-497799F7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形成 CS* 咨询/工单号，销售和客服可追踪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6697C-5D1E-4B19-B927-DDF49378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504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191F9-22AD-4525-A4EC-DB20156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57A"/>
          </a:solidFill>
          <a:ln xmlns:a="http://schemas.openxmlformats.org/drawingml/2006/main" w="0">
            <a:solidFill>
              <a:srgbClr val="19B5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B0CB9-1DE1-4022-B2BC-1FCEEA5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事件总线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DAB18-7ED3-45E9-87CB-5EC131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incident_bus 派发给处理团队或 AI 员工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37018-F5AD-4C26-91AD-A8308D83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504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B3B15-ED03-4475-87B9-288572F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EF6B1-1ED6-408E-9A61-AA1A2D7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过程回写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53FF6-BFFD-4F34-9CA5-72B22BB4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进度、结果、补充问题写回生命周期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9BB5E-C30D-4661-94BB-11939724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1504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0F299-F9FA-41CE-807D-60D4D2EF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E5C"/>
          </a:solidFill>
          <a:ln xmlns:a="http://schemas.openxmlformats.org/drawingml/2006/main" w="0">
            <a:solidFill>
              <a:srgbClr val="EF4E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FE919-02B2-4221-9F20-DDD6EBC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146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客户回执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4D6FCC-74AA-487D-A608-D0B4D27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194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处理完成后按编号回访与验收</a:t>
            </a:r>
          </a:p>
        </p:txBody>
      </p: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3019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33850" y="3019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24550" y="3019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15250" y="3019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505950" y="3019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B8F6"/>
            </a:solidFill>
            <a:prstDash val="soli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0B8492-501A-484E-8919-7B47D26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486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A3F"/>
          </a:solidFill>
          <a:ln xmlns:a="http://schemas.openxmlformats.org/drawingml/2006/main" w="9525">
            <a:solidFill>
              <a:srgbClr val="071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291184-828C-40F7-A468-69FEFE9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C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C8FF"/>
                </a:solidFill>
                <a:latin typeface="PingFang SC"/>
                <a:ea typeface="PingFang SC"/>
                <a:cs typeface="PingFang SC"/>
              </a:rPr>
              <a:t>路演一定要跑通的证据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03581D-3B6E-4E6B-B48B-7ACCA740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4345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客户提交后能看到编号，后台能看到分配和状态，处理完成后能回执；这比“AI会聊天”更能证明价值。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91F6FE-FB30-452C-8225-EF424065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90D953-BF41-4FD1-8C8A-15B069B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049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8488DF-171D-4DE2-8D8A-E510D4AB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扩展与行业化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1AD3B-55B9-42BC-82A8-18D996D0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995A5-4D9A-4003-A574-072DBB6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Mod 架构：客户业务不塞进主系统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D5704-35DB-4344-92A1-5C859B63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7b7b09b1d4ecd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098D-7399-41EE-B199-C339180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714750" cy="2857500"/>
          </a:xfrm>
          <a:prstGeom xmlns:a="http://schemas.openxmlformats.org/drawingml/2006/main" prst="roundRect">
            <a:avLst>
              <a:gd name="adj" fmla="val 5333"/>
            </a:avLst>
          </a:prstGeom>
          <a:gradFill xmlns:a="http://schemas.openxmlformats.org/drawingml/2006/main">
            <a:gsLst>
              <a:gs pos="0">
                <a:srgbClr val="071A3F"/>
              </a:gs>
              <a:gs pos="100000">
                <a:srgbClr val="0D3B91"/>
              </a:gs>
            </a:gsLst>
            <a:lin ang="10800000"/>
          </a:gradFill>
          <a:ln xmlns:a="http://schemas.openxmlformats.org/drawingml/2006/main" w="9525">
            <a:solidFill>
              <a:srgbClr val="071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78C5D-AC47-49F0-9DA8-8370BA8E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XCMAX 宿主平台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0B1D7-827D-4481-B2D8-A66287D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8E8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E8FF"/>
                </a:solidFill>
                <a:latin typeface="PingFang SC"/>
                <a:ea typeface="PingFang SC"/>
                <a:cs typeface="PingFang SC"/>
              </a:rPr>
              <a:t>登录授权 · 数据连接 · AI员工运行时 · 工具目录 · 验收日志 · 部署升级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ADCF7-96A2-4AB1-AFAD-4EAA53AA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C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C8FF"/>
                </a:solidFill>
                <a:latin typeface="PingFang SC"/>
                <a:ea typeface="PingFang SC"/>
                <a:cs typeface="PingFang SC"/>
              </a:rPr>
              <a:t>稳定底座不随客户需求乱改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99EE9-AFB9-45D7-B596-00AB9E57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2057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9ADD0-554B-4B71-B8B9-4C778A7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E9633-C999-4F05-84D1-603AB2A2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行业 Mod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C59FB-A533-4257-B379-54821B1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客户行业流程、字段、模板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91F00-1007-4056-BC31-66B21982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2057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8B965-C197-4828-82DE-C9908AC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57A"/>
          </a:solidFill>
          <a:ln xmlns:a="http://schemas.openxmlformats.org/drawingml/2006/main" w="0">
            <a:solidFill>
              <a:srgbClr val="19B5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85173-5732-4883-882E-B69EDF8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员工包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19B22-7F6A-41E5-ABFD-C9C2342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客服、销售、运营、生产协同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0E9A3-1836-4051-B8C2-578FC8D7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057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03822-7BB5-468B-9C2E-AD7FE365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6D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52286-A110-4284-A753-1B3D130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前端插件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9885D-2A64-496F-A065-A1CC849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菜单、页面、工作台组件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2903F-6CE1-4C17-8BE0-BD5982B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057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10308-C0BD-43A2-BA66-9794163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F1F4B-0194-4C2B-9544-5961013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后台扩展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F2C9C-46AB-4263-98AD-270BBDB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576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任务、事件、服务覆写、迁移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36973-7701-42A0-ACA3-E8A4861B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95650"/>
            <a:ext cx="895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0D7AA-D1BA-4A68-BB75-1B7AF725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扩展声明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4686300" y="3590925"/>
            <a:ext cx="2857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7EE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2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867400" y="2638425"/>
            <a:ext cx="3238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7EE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5867400" y="2638425"/>
            <a:ext cx="2724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7EE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2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3590925"/>
            <a:ext cx="3238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7EE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2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867400" y="3590925"/>
            <a:ext cx="27241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7EE"/>
            </a:solidFill>
            <a:prstDash val="solid"/>
            <a:tailEnd type="arrow" w="med" len="med"/>
          </a:ln>
        </p:spPr>
      </p:cxn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b8bd2cc194954"/>
          <a:srcRect xmlns:a="http://schemas.openxmlformats.org/drawingml/2006/main" l="0" t="21840" r="0" b="218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50482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7B7FEA-579E-455F-801C-A09073D3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讲法：主系统负责通用能力，客户差异放进 Mod 和员工包；这样既能行业化，又不会把核心平台改乱。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45F379-08D7-4E01-A6FF-6B590FE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C894C5-01B6-4C98-94F5-A25A609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8059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10A89-24C0-4A53-89DE-54C516C6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部署、安全与费用边界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572C3-58DD-418F-A52B-8005BB95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D6"/>
          </a:solidFill>
          <a:ln xmlns:a="http://schemas.openxmlformats.org/drawingml/2006/main" w="0">
            <a:solidFill>
              <a:srgbClr val="1557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2A15C-EE0B-45BD-BE26-E2C0FE71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部署边界：可验收，也可控风险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F3955-BDDE-4FF3-BAA2-02C145D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c641f457c4375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7036C-3B40-4A4A-B2B2-FF0A5CB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815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0F8AF-600C-4414-B7C5-F4DFB43D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桌面/本地交付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75D6E-0D22-4AE9-B338-FFE5879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695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适合单机、部门试点、客户要求资料留本地的场景。后端服务、SQLite、文件队列和用户数据运行在客户设备。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EAB4E-02F9-43C4-AB33-B4105F5C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CBD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C98D1-8925-4929-9112-30A4EC8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624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D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D6"/>
                </a:solidFill>
                <a:latin typeface="PingFang SC"/>
                <a:ea typeface="PingFang SC"/>
                <a:cs typeface="PingFang SC"/>
              </a:rPr>
              <a:t>客户数据在本地 userData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84C35-2E1C-48BB-A7E5-76281929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7815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4E596-C07F-4320-B329-FE8C3CBD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企业 Web 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C2750-7EF2-4AED-B736-2C5EA97C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3695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08E"/>
                </a:solidFill>
                <a:latin typeface="PingFang SC"/>
                <a:ea typeface="PingFang SC"/>
                <a:cs typeface="PingFang SC"/>
              </a:rPr>
              <a:t>适合多部门、多账号、统一后台和跨系统集成。Nginx、FastAPI、PostgreSQL/Redis/Celery 按企业环境部署。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9ECAF-F21E-4469-8714-9F419929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CF6"/>
          </a:solidFill>
          <a:ln xmlns:a="http://schemas.openxmlformats.org/drawingml/2006/main" w="9525">
            <a:solidFill>
              <a:srgbClr val="CBD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8EE11-F058-4605-8E4B-0F833C1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624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9B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9B57A"/>
                </a:solidFill>
                <a:latin typeface="PingFang SC"/>
                <a:ea typeface="PingFang SC"/>
                <a:cs typeface="PingFang SC"/>
              </a:rPr>
              <a:t>权限、日志、运维独立治理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53577-3D70-43C2-BB9C-85BCE25C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9067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71A3F"/>
          </a:solidFill>
          <a:ln xmlns:a="http://schemas.openxmlformats.org/drawingml/2006/main" w="9525">
            <a:solidFill>
              <a:srgbClr val="071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11CBA-423F-4FF8-9B17-0D3E42DF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C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C8FF"/>
                </a:solidFill>
                <a:latin typeface="PingFang SC"/>
                <a:ea typeface="PingFang SC"/>
                <a:cs typeface="PingFang SC"/>
              </a:rPr>
              <a:t>销售边界要讲清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850F9-50CB-4106-93DD-0FF7DCE3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435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永久授权=系统使用权；Token、模型服务、短信/企微等第三方资源另行说明。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BCF7C-1F0A-4C2A-A359-3D1C2355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37A1E-6C33-42D0-80DA-BACC5CD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9A0B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6895766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3F"/>
            </a:gs>
            <a:gs pos="64000">
              <a:srgbClr val="102A66"/>
            </a:gs>
            <a:gs pos="100000">
              <a:srgbClr val="145BD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C8DD6-AF6B-4559-BA58-0AA4A167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75bf4aebf4d03"/>
          <a:stretch xmlns:a="http://schemas.openxmlformats.org/drawingml/2006/main"/>
        </p:blipFill>
        <p:spPr>
          <a:xfrm xmlns:a="http://schemas.openxmlformats.org/drawingml/2006/main">
            <a:off x="10639425" y="428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B4CA9-4BA8-47C1-B81E-4277827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路演要证明的不是“AI 很聪明”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F9C5E-DD97-449F-9CC4-AC8666FC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E3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CFE3FF"/>
                </a:solidFill>
                <a:latin typeface="PingFang SC"/>
                <a:ea typeface="PingFang SC"/>
                <a:cs typeface="PingFang SC"/>
              </a:rPr>
              <a:t>而是一个真实业务闭环可以现场跑完。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6E895-606E-41F0-9F8B-4A36401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1333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953CF-852A-4D45-ACC6-AFAB0B87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7729F-0A73-48BC-89CB-1F8304DD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扫码提交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405EB-87D1-45DC-82BA-0336B2C6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1333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FD22F-5FB2-49C4-8881-1B8FD6B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E3DB8-B112-4556-9351-EE42930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576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识别场景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E6580-2BD4-41CA-9529-6994248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1333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295CF-2097-4E90-8159-6DEC12A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F3200-508F-457B-83AB-B996FCA7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生成编号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3706A-8133-473F-820B-3D3BD1BD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1333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9E412-3348-47FE-9EB2-3EE375AC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F6181-6F43-46A2-A011-55DD356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576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分配销售/AI员工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200A3-BDB0-45D0-95B7-3C7BD94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1333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62B68-4D93-4E6C-AF64-42B8AD36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9EBC8-41AA-40EA-97FA-7F07D467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跟进处理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62C6A-C731-4BE1-A9E9-2DFA463F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8FF"/>
          </a:solidFill>
          <a:ln xmlns:a="http://schemas.openxmlformats.org/drawingml/2006/main" w="13335">
            <a:solidFill>
              <a:srgbClr val="18C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6DBAF-EA7F-4AA8-B04B-87C14C99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A3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71A3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BE22F-3F3A-46BA-82F9-7CA8ECA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结果回执</a:t>
            </a:r>
          </a:p>
        </p:txBody>
      </p:sp>
      <p:cxnSp>
        <p:nvCxnSpPr>
          <p:cNvPr id="54" name=""/>
          <p:cNvCxnSpPr>
            <a:stCxn xmlns:a="http://schemas.openxmlformats.org/drawingml/2006/main" id="5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905000" y="30670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FFFFF">
                <a:alpha val="45000"/>
              </a:srgbClr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8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3695700" y="30670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FFFFF">
                <a:alpha val="45000"/>
              </a:srgbClr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1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5486400" y="30670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FFFFF">
                <a:alpha val="45000"/>
              </a:srgbClr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4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7277100" y="30670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FFFFF">
                <a:alpha val="45000"/>
              </a:srgbClr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7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9067800" y="30670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FFFFF">
                <a:alpha val="45000"/>
              </a:srgbClr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018F7-E2F2-43CA-B041-218BE3B2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24400"/>
            <a:ext cx="8686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D30A16-02F8-44D6-A435-AC099335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62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C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C8FF"/>
                </a:solidFill>
                <a:latin typeface="PingFang SC"/>
                <a:ea typeface="PingFang SC"/>
                <a:cs typeface="PingFang SC"/>
              </a:rPr>
              <a:t>建议收口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6653D0-F39D-43FB-AE36-54F35DD8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53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先选一个最痛的业务场景，30 天跑试点；通过编号、过程记录和回执结果判断是否继续扩大。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AA5B9-EA97-4BB0-AF46-C4E6F752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AE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7CAE8"/>
                </a:solidFill>
                <a:latin typeface="PingFang SC"/>
                <a:ea typeface="PingFang SC"/>
                <a:cs typeface="PingFang SC"/>
              </a:rPr>
              <a:t>成都修茈科技有限公司 · XCAGI AUTOMATION</a:t>
            </a:r>
          </a:p>
        </p:txBody>
      </p:sp>
    </p:spTree>
    <p:extLst>
      <p:ext uri="{BB962C8B-B14F-4D97-AF65-F5344CB8AC3E}">
        <p14:creationId xmlns:p14="http://schemas.microsoft.com/office/powerpoint/2010/main" val="866847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2026-07-28T04:16:43.1690000Z</dcterms:created>
  <dcterms:modified xsi:type="dcterms:W3CDTF">2026-07-28T04:16:43.1690000Z</dcterms:modified>
</coreProperties>
</file>